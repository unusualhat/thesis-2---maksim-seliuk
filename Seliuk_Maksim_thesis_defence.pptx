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Good morning. My name is Maksim Seliuk. My supervisor is Dr. Karampatzakis, and the thesis is on fair, reproducible benchmarking and visualization of optimizers when fine-tuning language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0:15–0:45. Start with the problem. Every year new optimizers arrive claiming to beat AdamW. But Choi and colleagues showed the ranking can be inverted just by changing the search protocol, and Schmidt’s fifteen-optimizer benchmark found no single winner: the tuning budget matters as much as the algorithm. So a lot of the reported progress is really measuring how hard the experimenter tuned. The same unreliability affects visualization. That is why I reframed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0:45–1:15. The aim is to establish and demonstrate a fair, reproducible methodology. Three research questions. RQ1: is there a real difference under an equal budget. RQ2: how do the optimizers respond to the tuning protocol itself. RQ3: what does a correct loss-landscape visualization show. The deliverable is the protocol rather than a verdict on which optimizer wins.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1:15–1:55. The whole method rests on one invariant, encoded in software: same model, same data order, same initialization, same compute budget, with only the search space varying. GPT-2 with LoRA on WikiText-2, 800 steps for everyone, eighteen pre-registered learning rates each. Then the best configuration is re-run on five seeds with bootstrap intervals and effect sizes. Everything is driven from one YAML config.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1:55–2:35. This is the headline result. Under a fair budget the four optimizers finish inside 0.012 validation loss, about 0.3 perplexity, which is the same order as one optimizer’s own seed noise. AdamW is reliably ahead of Lion and Sophia, but the margin is trivial, and against SGD it is borderline. What actually separates them is cost: two state buffers versus one, and a four-fold spread in step time. Note the inversion: AdamW is fastest per step, Lion is fastest per second.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2:35–3:15. Then I asked whether that near-tie is a property of the optimizers or of the regime. Repeating the identical protocol on full fine-tuning of all 124 million weights, the spread widens sixfold and the ranking inverts. Well-tuned SGD is now clearly first and AdamW drops to fourth. Muon is fastest to the target in steps, but its step costs twice as much, so the advantage cancels. On the second model AdamW’s edge transfers, but SGD’s competitiveness does not. So best optimizer is a property of the optimizer-and-regime pair.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3:15–3:55. RQ2 is tunability, and this is where the optimizers genuinely differ. Their optima span three orders of magnitude in learning rate, which is why per-optimizer ranges are the fair choice. AdamW has a broad, flat valley, so it forgives a bad learning rate. Sophia does not: past a threshold it diverges catastrophically. And the two-dimensional grids show that whether one tuning axis is enough is itself optimizer-specific. It is for AdamW, it is not for SGD.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3:55–4:35. RQ3. These two panels are the same AdamW solution at the same step size. Only the direction normalization differs, and the minimum looks three times sharper on the left. So sharpness read off a naive slice is an artefact. Quantitatively, I validated a Hessian-vector-product estimate of the top eigenvalue against the exact Hessian to 0.03 percent. It explains Lion’s narrow basin, a four-times sharper minimum, but it explicitly does not explain Sophia. That isolates Sophia’s fragility as an update-dynamics effect rather than a landscape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4:35–4:55. To conclude: equalising the tuning budget shrinks the accuracy differences to noise and relocates them to tunability, cost and adaptation regime. Practically, AdamW stays a sound LoRA default because it is easiest to tune, Lion when memory binds, and SGD under full fine-tuning. The contribution is the protocol and the harness that enforces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4:55–5:00.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_nup.png"/>
          <p:cNvPicPr>
            <a:picLocks noChangeAspect="1"/>
          </p:cNvPicPr>
          <p:nvPr/>
        </p:nvPicPr>
        <p:blipFill>
          <a:blip r:embed="rId2"/>
          <a:stretch>
            <a:fillRect/>
          </a:stretch>
        </p:blipFill>
        <p:spPr>
          <a:xfrm>
            <a:off x="658368" y="566928"/>
            <a:ext cx="1835173" cy="868680"/>
          </a:xfrm>
          <a:prstGeom prst="rect">
            <a:avLst/>
          </a:prstGeom>
        </p:spPr>
      </p:pic>
      <p:sp>
        <p:nvSpPr>
          <p:cNvPr id="3" name="TextBox 2"/>
          <p:cNvSpPr txBox="1"/>
          <p:nvPr/>
        </p:nvSpPr>
        <p:spPr>
          <a:xfrm>
            <a:off x="658368" y="1755648"/>
            <a:ext cx="8595360" cy="256032"/>
          </a:xfrm>
          <a:prstGeom prst="rect">
            <a:avLst/>
          </a:prstGeom>
          <a:noFill/>
        </p:spPr>
        <p:txBody>
          <a:bodyPr wrap="square" anchor="t" lIns="0" rIns="0" tIns="0" bIns="0">
            <a:noAutofit/>
          </a:bodyPr>
          <a:lstStyle/>
          <a:p>
            <a:pPr>
              <a:lnSpc>
                <a:spcPct val="100000"/>
              </a:lnSpc>
              <a:spcBef>
                <a:spcPts val="0"/>
              </a:spcBef>
              <a:spcAft>
                <a:spcPts val="0"/>
              </a:spcAft>
            </a:pPr>
            <a:r>
              <a:rPr sz="1150" b="1" i="0">
                <a:solidFill>
                  <a:srgbClr val="2E7CB5"/>
                </a:solidFill>
                <a:latin typeface="Segoe UI"/>
                <a:cs typeface="Segoe UI"/>
                <a:ea typeface="Segoe UI"/>
              </a:rPr>
              <a:t>BACHELOR THESIS II  ·  CSAITHE02  ·  BSc APPLIED COMPUTER SCIENCE</a:t>
            </a:r>
          </a:p>
        </p:txBody>
      </p:sp>
      <p:sp>
        <p:nvSpPr>
          <p:cNvPr id="4" name="TextBox 3"/>
          <p:cNvSpPr txBox="1"/>
          <p:nvPr/>
        </p:nvSpPr>
        <p:spPr>
          <a:xfrm>
            <a:off x="658368" y="2121408"/>
            <a:ext cx="8412480" cy="1600200"/>
          </a:xfrm>
          <a:prstGeom prst="rect">
            <a:avLst/>
          </a:prstGeom>
          <a:noFill/>
        </p:spPr>
        <p:txBody>
          <a:bodyPr wrap="square" anchor="t" lIns="0" rIns="0" tIns="0" bIns="0">
            <a:noAutofit/>
          </a:bodyPr>
          <a:lstStyle/>
          <a:p>
            <a:pPr>
              <a:lnSpc>
                <a:spcPct val="106000"/>
              </a:lnSpc>
              <a:spcBef>
                <a:spcPts val="0"/>
              </a:spcBef>
              <a:spcAft>
                <a:spcPts val="0"/>
              </a:spcAft>
              <a:buNone/>
            </a:pPr>
            <a:r>
              <a:rPr sz="3100" b="1" i="0">
                <a:solidFill>
                  <a:srgbClr val="0E5688"/>
                </a:solidFill>
                <a:latin typeface="Segoe UI"/>
                <a:cs typeface="Segoe UI"/>
                <a:ea typeface="Segoe UI"/>
              </a:rPr>
              <a:t>Fair, Reproducible Benchmarking and Visualization of Optimizers when Fine-Tuning Language Models</a:t>
            </a:r>
          </a:p>
        </p:txBody>
      </p:sp>
      <p:sp>
        <p:nvSpPr>
          <p:cNvPr id="5" name="Rectangle 4"/>
          <p:cNvSpPr/>
          <p:nvPr/>
        </p:nvSpPr>
        <p:spPr>
          <a:xfrm>
            <a:off x="658368" y="3913632"/>
            <a:ext cx="2377440"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4261104"/>
            <a:ext cx="7680960" cy="1737360"/>
          </a:xfrm>
          <a:prstGeom prst="rect">
            <a:avLst/>
          </a:prstGeom>
          <a:noFill/>
        </p:spPr>
        <p:txBody>
          <a:bodyPr wrap="square" anchor="t" lIns="0" rIns="0" tIns="0" bIns="0">
            <a:noAutofit/>
          </a:bodyPr>
          <a:lstStyle/>
          <a:p>
            <a:pPr>
              <a:lnSpc>
                <a:spcPct val="110000"/>
              </a:lnSpc>
              <a:spcBef>
                <a:spcPts val="0"/>
              </a:spcBef>
              <a:spcAft>
                <a:spcPts val="0"/>
              </a:spcAft>
              <a:buNone/>
            </a:pPr>
            <a:r>
              <a:rPr sz="1800" b="1" i="0">
                <a:solidFill>
                  <a:srgbClr val="0E5688"/>
                </a:solidFill>
                <a:latin typeface="Segoe UI"/>
                <a:cs typeface="Segoe UI"/>
                <a:ea typeface="Segoe UI"/>
              </a:rPr>
              <a:t>Maksim Seliuk</a:t>
            </a:r>
          </a:p>
          <a:p>
            <a:pPr>
              <a:lnSpc>
                <a:spcPct val="110000"/>
              </a:lnSpc>
              <a:spcBef>
                <a:spcPts val="500"/>
              </a:spcBef>
              <a:spcAft>
                <a:spcPts val="0"/>
              </a:spcAft>
              <a:buNone/>
            </a:pPr>
            <a:r>
              <a:rPr sz="1250" b="0" i="0">
                <a:solidFill>
                  <a:srgbClr val="5C6B78"/>
                </a:solidFill>
                <a:latin typeface="Segoe UI"/>
                <a:cs typeface="Segoe UI"/>
                <a:ea typeface="Segoe UI"/>
              </a:rPr>
              <a:t>Student ID 1220715469</a:t>
            </a:r>
          </a:p>
          <a:p>
            <a:pPr>
              <a:lnSpc>
                <a:spcPct val="110000"/>
              </a:lnSpc>
              <a:spcBef>
                <a:spcPts val="900"/>
              </a:spcBef>
              <a:spcAft>
                <a:spcPts val="0"/>
              </a:spcAft>
              <a:buNone/>
            </a:pPr>
            <a:r>
              <a:rPr sz="1350" b="0" i="0">
                <a:solidFill>
                  <a:srgbClr val="1E2A35"/>
                </a:solidFill>
                <a:latin typeface="Segoe UI"/>
                <a:cs typeface="Segoe UI"/>
                <a:ea typeface="Segoe UI"/>
              </a:rPr>
              <a:t>Supervisor: Dr. Dimitris Karampatzakis</a:t>
            </a:r>
          </a:p>
          <a:p>
            <a:pPr>
              <a:lnSpc>
                <a:spcPct val="110000"/>
              </a:lnSpc>
              <a:spcBef>
                <a:spcPts val="900"/>
              </a:spcBef>
              <a:spcAft>
                <a:spcPts val="0"/>
              </a:spcAft>
              <a:buNone/>
            </a:pPr>
            <a:r>
              <a:rPr sz="1150" b="0" i="0">
                <a:solidFill>
                  <a:srgbClr val="5C6B78"/>
                </a:solidFill>
                <a:latin typeface="Segoe UI"/>
                <a:cs typeface="Segoe UI"/>
                <a:ea typeface="Segoe UI"/>
              </a:rPr>
              <a:t>School of Economics, Business and Computer Science  ·  Academic year 2025–2026</a:t>
            </a:r>
          </a:p>
        </p:txBody>
      </p:sp>
      <p:sp>
        <p:nvSpPr>
          <p:cNvPr id="7" name="Rectangle 6"/>
          <p:cNvSpPr/>
          <p:nvPr/>
        </p:nvSpPr>
        <p:spPr>
          <a:xfrm>
            <a:off x="9710928" y="2157984"/>
            <a:ext cx="274320" cy="2743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0277856" y="2615184"/>
            <a:ext cx="475488" cy="475488"/>
          </a:xfrm>
          <a:prstGeom prst="rect">
            <a:avLst/>
          </a:prstGeom>
          <a:solidFill>
            <a:srgbClr val="8FC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9473184" y="2999232"/>
            <a:ext cx="201168" cy="201168"/>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10076688" y="3310128"/>
            <a:ext cx="310896" cy="310896"/>
          </a:xfrm>
          <a:prstGeom prst="rect">
            <a:avLst/>
          </a:prstGeom>
          <a:solidFill>
            <a:srgbClr val="B6D9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716768" y="2926080"/>
            <a:ext cx="182880" cy="18288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9966960" y="3858768"/>
            <a:ext cx="566928" cy="56692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0844784" y="3675887"/>
            <a:ext cx="237744" cy="237744"/>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564624" y="4334256"/>
            <a:ext cx="164592" cy="164592"/>
          </a:xfrm>
          <a:prstGeom prst="rect">
            <a:avLst/>
          </a:prstGeom>
          <a:solidFill>
            <a:srgbClr val="8FC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0" y="6601968"/>
            <a:ext cx="12191695" cy="256032"/>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MOTIVATION</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“Which optimizer is best?” is the wrong question</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2 / 10</a:t>
            </a:r>
          </a:p>
        </p:txBody>
      </p:sp>
      <p:sp>
        <p:nvSpPr>
          <p:cNvPr id="10" name="TextBox 9"/>
          <p:cNvSpPr txBox="1"/>
          <p:nvPr/>
        </p:nvSpPr>
        <p:spPr>
          <a:xfrm>
            <a:off x="658368" y="1517904"/>
            <a:ext cx="10874959" cy="3200400"/>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550" b="1" i="0">
                <a:solidFill>
                  <a:srgbClr val="0E5688"/>
                </a:solidFill>
                <a:latin typeface="Segoe UI"/>
                <a:cs typeface="Segoe UI"/>
                <a:ea typeface="Segoe UI"/>
              </a:rPr>
              <a:t>New optimizers keep arriving. </a:t>
            </a:r>
            <a:r>
              <a:rPr sz="1550" b="0" i="0">
                <a:solidFill>
                  <a:srgbClr val="1E2A35"/>
                </a:solidFill>
                <a:latin typeface="Segoe UI"/>
                <a:cs typeface="Segoe UI"/>
                <a:ea typeface="Segoe UI"/>
              </a:rPr>
              <a:t>Lion, Sophia and Muon were each launched with evidence that they beat AdamW.</a:t>
            </a:r>
          </a:p>
          <a:p>
            <a:pPr marL="237744" indent="-237744">
              <a:lnSpc>
                <a:spcPct val="116000"/>
              </a:lnSpc>
              <a:spcBef>
                <a:spcPts val="1200"/>
              </a:spcBef>
              <a:spcAft>
                <a:spcPts val="0"/>
              </a:spcAft>
              <a:buClr>
                <a:srgbClr val="68AEDF"/>
              </a:buClr>
              <a:buSzPct val="90000"/>
              <a:buFont typeface="Arial" pitchFamily="34" charset="0"/>
              <a:buChar char="▪"/>
            </a:pPr>
            <a:r>
              <a:rPr sz="1550" b="1" i="0">
                <a:solidFill>
                  <a:srgbClr val="0E5688"/>
                </a:solidFill>
                <a:latin typeface="Segoe UI"/>
                <a:cs typeface="Segoe UI"/>
                <a:ea typeface="Segoe UI"/>
              </a:rPr>
              <a:t>But the comparisons are rarely fair. </a:t>
            </a:r>
            <a:r>
              <a:rPr sz="1550" b="0" i="0">
                <a:solidFill>
                  <a:srgbClr val="1E2A35"/>
                </a:solidFill>
                <a:latin typeface="Segoe UI"/>
                <a:cs typeface="Segoe UI"/>
                <a:ea typeface="Segoe UI"/>
              </a:rPr>
              <a:t>Choi et al. (2019) showed that the ranking of optimizers can be inverted simply by changing the hyperparameter-search protocol.</a:t>
            </a:r>
          </a:p>
          <a:p>
            <a:pPr marL="237744" indent="-237744">
              <a:lnSpc>
                <a:spcPct val="116000"/>
              </a:lnSpc>
              <a:spcBef>
                <a:spcPts val="1200"/>
              </a:spcBef>
              <a:spcAft>
                <a:spcPts val="0"/>
              </a:spcAft>
              <a:buClr>
                <a:srgbClr val="68AEDF"/>
              </a:buClr>
              <a:buSzPct val="90000"/>
              <a:buFont typeface="Arial" pitchFamily="34" charset="0"/>
              <a:buChar char="▪"/>
            </a:pPr>
            <a:r>
              <a:rPr sz="1550" b="1" i="0">
                <a:solidFill>
                  <a:srgbClr val="0E5688"/>
                </a:solidFill>
                <a:latin typeface="Segoe UI"/>
                <a:cs typeface="Segoe UI"/>
                <a:ea typeface="Segoe UI"/>
              </a:rPr>
              <a:t>Schmidt et al. (2021) </a:t>
            </a:r>
            <a:r>
              <a:rPr sz="1550" b="0" i="0">
                <a:solidFill>
                  <a:srgbClr val="1E2A35"/>
                </a:solidFill>
                <a:latin typeface="Segoe UI"/>
                <a:cs typeface="Segoe UI"/>
                <a:ea typeface="Segoe UI"/>
              </a:rPr>
              <a:t>benchmarked fifteen optimizers and found no single winner: the tuning budget matters as much as the update rule.</a:t>
            </a:r>
          </a:p>
          <a:p>
            <a:pPr marL="237744" indent="-237744">
              <a:lnSpc>
                <a:spcPct val="116000"/>
              </a:lnSpc>
              <a:spcBef>
                <a:spcPts val="1200"/>
              </a:spcBef>
              <a:spcAft>
                <a:spcPts val="0"/>
              </a:spcAft>
              <a:buClr>
                <a:srgbClr val="68AEDF"/>
              </a:buClr>
              <a:buSzPct val="90000"/>
              <a:buFont typeface="Arial" pitchFamily="34" charset="0"/>
              <a:buChar char="▪"/>
            </a:pPr>
            <a:r>
              <a:rPr sz="1550" b="1" i="0">
                <a:solidFill>
                  <a:srgbClr val="0E5688"/>
                </a:solidFill>
                <a:latin typeface="Segoe UI"/>
                <a:cs typeface="Segoe UI"/>
                <a:ea typeface="Segoe UI"/>
              </a:rPr>
              <a:t>So much of the reported progress measures the experimenter’s effort, </a:t>
            </a:r>
            <a:r>
              <a:rPr sz="1550" b="0" i="0">
                <a:solidFill>
                  <a:srgbClr val="1E2A35"/>
                </a:solidFill>
                <a:latin typeface="Segoe UI"/>
                <a:cs typeface="Segoe UI"/>
                <a:ea typeface="Segoe UI"/>
              </a:rPr>
              <a:t>not the algorithm.</a:t>
            </a:r>
          </a:p>
          <a:p>
            <a:pPr marL="237744" indent="-237744">
              <a:lnSpc>
                <a:spcPct val="116000"/>
              </a:lnSpc>
              <a:spcBef>
                <a:spcPts val="1200"/>
              </a:spcBef>
              <a:spcAft>
                <a:spcPts val="0"/>
              </a:spcAft>
              <a:buClr>
                <a:srgbClr val="68AEDF"/>
              </a:buClr>
              <a:buSzPct val="90000"/>
              <a:buFont typeface="Arial" pitchFamily="34" charset="0"/>
              <a:buChar char="▪"/>
            </a:pPr>
            <a:r>
              <a:rPr sz="1550" b="1" i="0">
                <a:solidFill>
                  <a:srgbClr val="0E5688"/>
                </a:solidFill>
                <a:latin typeface="Segoe UI"/>
                <a:cs typeface="Segoe UI"/>
                <a:ea typeface="Segoe UI"/>
              </a:rPr>
              <a:t>Visualization is just as unreliable: </a:t>
            </a:r>
            <a:r>
              <a:rPr sz="1550" b="0" i="0">
                <a:solidFill>
                  <a:srgbClr val="1E2A35"/>
                </a:solidFill>
                <a:latin typeface="Segoe UI"/>
                <a:cs typeface="Segoe UI"/>
                <a:ea typeface="Segoe UI"/>
              </a:rPr>
              <a:t>naive loss-landscape plots can be made to show almost any degree of sharpness (Dinh et al., 2017; Li et al., 2018).</a:t>
            </a:r>
          </a:p>
        </p:txBody>
      </p:sp>
      <p:sp>
        <p:nvSpPr>
          <p:cNvPr id="11" name="Rectangle 10"/>
          <p:cNvSpPr/>
          <p:nvPr/>
        </p:nvSpPr>
        <p:spPr>
          <a:xfrm>
            <a:off x="658368" y="4736592"/>
            <a:ext cx="10874959" cy="1152144"/>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4736592"/>
            <a:ext cx="68580" cy="1152144"/>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9264" y="4745736"/>
            <a:ext cx="10308031" cy="1133856"/>
          </a:xfrm>
          <a:prstGeom prst="rect">
            <a:avLst/>
          </a:prstGeom>
          <a:noFill/>
        </p:spPr>
        <p:txBody>
          <a:bodyPr wrap="square" anchor="ctr" lIns="0" rIns="0" tIns="0" bIns="0">
            <a:noAutofit/>
          </a:bodyPr>
          <a:lstStyle/>
          <a:p>
            <a:pPr>
              <a:lnSpc>
                <a:spcPct val="115000"/>
              </a:lnSpc>
              <a:spcBef>
                <a:spcPts val="0"/>
              </a:spcBef>
              <a:spcAft>
                <a:spcPts val="0"/>
              </a:spcAft>
              <a:buNone/>
            </a:pPr>
            <a:r>
              <a:rPr sz="1150" b="1" i="0">
                <a:solidFill>
                  <a:srgbClr val="2E7CB5"/>
                </a:solidFill>
                <a:latin typeface="Segoe UI"/>
                <a:cs typeface="Segoe UI"/>
                <a:ea typeface="Segoe UI"/>
              </a:rPr>
              <a:t>The question this thesis asks instead</a:t>
            </a:r>
          </a:p>
          <a:p>
            <a:pPr>
              <a:lnSpc>
                <a:spcPct val="115000"/>
              </a:lnSpc>
              <a:spcBef>
                <a:spcPts val="600"/>
              </a:spcBef>
              <a:spcAft>
                <a:spcPts val="0"/>
              </a:spcAft>
              <a:buNone/>
            </a:pPr>
            <a:r>
              <a:rPr sz="1600" b="1" i="0">
                <a:solidFill>
                  <a:srgbClr val="0E5688"/>
                </a:solidFill>
                <a:latin typeface="Segoe UI"/>
                <a:cs typeface="Segoe UI"/>
                <a:ea typeface="Segoe UI"/>
              </a:rPr>
              <a:t>How can optimizers be compared and visualised fairly, and what changes once the comparison is made fair?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AIM AND RESEARCH QUESTIONS</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Three questions, one protocol</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3 / 10</a:t>
            </a:r>
          </a:p>
        </p:txBody>
      </p:sp>
      <p:sp>
        <p:nvSpPr>
          <p:cNvPr id="10" name="TextBox 9"/>
          <p:cNvSpPr txBox="1"/>
          <p:nvPr/>
        </p:nvSpPr>
        <p:spPr>
          <a:xfrm>
            <a:off x="658368" y="1481328"/>
            <a:ext cx="10874959" cy="502920"/>
          </a:xfrm>
          <a:prstGeom prst="rect">
            <a:avLst/>
          </a:prstGeom>
          <a:noFill/>
        </p:spPr>
        <p:txBody>
          <a:bodyPr wrap="square" anchor="t" lIns="0" rIns="0" tIns="0" bIns="0">
            <a:noAutofit/>
          </a:bodyPr>
          <a:lstStyle/>
          <a:p>
            <a:pPr>
              <a:lnSpc>
                <a:spcPct val="115000"/>
              </a:lnSpc>
              <a:spcBef>
                <a:spcPts val="0"/>
              </a:spcBef>
              <a:spcAft>
                <a:spcPts val="0"/>
              </a:spcAft>
              <a:buNone/>
            </a:pPr>
            <a:r>
              <a:rPr sz="1450" b="0" i="0">
                <a:solidFill>
                  <a:srgbClr val="1E2A35"/>
                </a:solidFill>
                <a:latin typeface="Segoe UI"/>
                <a:cs typeface="Segoe UI"/>
                <a:ea typeface="Segoe UI"/>
              </a:rPr>
              <a:t>Establish, implement and demonstrate a fair, reproducible methodology for benchmarking and visualising optimizers when fine-tuning a language model, then use it to characterise four representative optimizers (five under full fine-tuning).</a:t>
            </a:r>
          </a:p>
        </p:txBody>
      </p:sp>
      <p:sp>
        <p:nvSpPr>
          <p:cNvPr id="11" name="Rectangle 10"/>
          <p:cNvSpPr/>
          <p:nvPr/>
        </p:nvSpPr>
        <p:spPr>
          <a:xfrm>
            <a:off x="658368" y="2139696"/>
            <a:ext cx="3417722" cy="2395728"/>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139696"/>
            <a:ext cx="3417722"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2359152"/>
            <a:ext cx="2942234" cy="2011680"/>
          </a:xfrm>
          <a:prstGeom prst="rect">
            <a:avLst/>
          </a:prstGeom>
          <a:noFill/>
        </p:spPr>
        <p:txBody>
          <a:bodyPr wrap="square" anchor="t" lIns="0" rIns="0" tIns="0" bIns="0">
            <a:noAutofit/>
          </a:bodyPr>
          <a:lstStyle/>
          <a:p>
            <a:pPr>
              <a:lnSpc>
                <a:spcPct val="105000"/>
              </a:lnSpc>
              <a:spcBef>
                <a:spcPts val="0"/>
              </a:spcBef>
              <a:spcAft>
                <a:spcPts val="500"/>
              </a:spcAft>
              <a:buNone/>
            </a:pPr>
            <a:r>
              <a:rPr sz="1450" b="1" i="0">
                <a:solidFill>
                  <a:srgbClr val="0E5688"/>
                </a:solidFill>
                <a:latin typeface="Segoe UI"/>
                <a:cs typeface="Segoe UI"/>
                <a:ea typeface="Segoe UI"/>
              </a:rPr>
              <a:t>RQ1  ·  Benchmark</a:t>
            </a:r>
          </a:p>
          <a:p>
            <a:pPr>
              <a:lnSpc>
                <a:spcPct val="114000"/>
              </a:lnSpc>
              <a:spcBef>
                <a:spcPts val="400"/>
              </a:spcBef>
              <a:spcAft>
                <a:spcPts val="0"/>
              </a:spcAft>
              <a:buNone/>
            </a:pPr>
            <a:r>
              <a:rPr sz="1240" b="0" i="0">
                <a:solidFill>
                  <a:srgbClr val="1E2A35"/>
                </a:solidFill>
                <a:latin typeface="Segoe UI"/>
                <a:cs typeface="Segoe UI"/>
                <a:ea typeface="Segoe UI"/>
              </a:rPr>
              <a:t>Under an equal tuning budget, is there a statistically detectable difference between AdamW, Lion, Sophia and SGD + momentum?</a:t>
            </a:r>
          </a:p>
          <a:p>
            <a:pPr>
              <a:lnSpc>
                <a:spcPct val="114000"/>
              </a:lnSpc>
              <a:spcBef>
                <a:spcPts val="400"/>
              </a:spcBef>
              <a:spcAft>
                <a:spcPts val="0"/>
              </a:spcAft>
              <a:buNone/>
            </a:pPr>
            <a:r>
              <a:rPr sz="1240" b="0" i="0">
                <a:solidFill>
                  <a:srgbClr val="1E2A35"/>
                </a:solidFill>
                <a:latin typeface="Segoe UI"/>
                <a:cs typeface="Segoe UI"/>
                <a:ea typeface="Segoe UI"/>
              </a:rPr>
              <a:t>Measured by final validation quality and by steps to a fixed quality target.</a:t>
            </a:r>
          </a:p>
        </p:txBody>
      </p:sp>
      <p:sp>
        <p:nvSpPr>
          <p:cNvPr id="14" name="Rectangle 13"/>
          <p:cNvSpPr/>
          <p:nvPr/>
        </p:nvSpPr>
        <p:spPr>
          <a:xfrm>
            <a:off x="4386986" y="2139696"/>
            <a:ext cx="3417722" cy="2395728"/>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86986" y="2139696"/>
            <a:ext cx="3417722"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4730" y="2359152"/>
            <a:ext cx="2942234" cy="2011680"/>
          </a:xfrm>
          <a:prstGeom prst="rect">
            <a:avLst/>
          </a:prstGeom>
          <a:noFill/>
        </p:spPr>
        <p:txBody>
          <a:bodyPr wrap="square" anchor="t" lIns="0" rIns="0" tIns="0" bIns="0">
            <a:noAutofit/>
          </a:bodyPr>
          <a:lstStyle/>
          <a:p>
            <a:pPr>
              <a:lnSpc>
                <a:spcPct val="105000"/>
              </a:lnSpc>
              <a:spcBef>
                <a:spcPts val="0"/>
              </a:spcBef>
              <a:spcAft>
                <a:spcPts val="500"/>
              </a:spcAft>
              <a:buNone/>
            </a:pPr>
            <a:r>
              <a:rPr sz="1450" b="1" i="0">
                <a:solidFill>
                  <a:srgbClr val="0E5688"/>
                </a:solidFill>
                <a:latin typeface="Segoe UI"/>
                <a:cs typeface="Segoe UI"/>
                <a:ea typeface="Segoe UI"/>
              </a:rPr>
              <a:t>RQ2  ·  Tunability</a:t>
            </a:r>
          </a:p>
          <a:p>
            <a:pPr>
              <a:lnSpc>
                <a:spcPct val="114000"/>
              </a:lnSpc>
              <a:spcBef>
                <a:spcPts val="400"/>
              </a:spcBef>
              <a:spcAft>
                <a:spcPts val="0"/>
              </a:spcAft>
              <a:buNone/>
            </a:pPr>
            <a:r>
              <a:rPr sz="1240" b="0" i="0">
                <a:solidFill>
                  <a:srgbClr val="1E2A35"/>
                </a:solidFill>
                <a:latin typeface="Segoe UI"/>
                <a:cs typeface="Segoe UI"/>
                <a:ea typeface="Segoe UI"/>
              </a:rPr>
              <a:t>How sensitive is that conclusion to the tuning protocol? What does quality versus learning rate look like for each optimizer?</a:t>
            </a:r>
          </a:p>
          <a:p>
            <a:pPr>
              <a:lnSpc>
                <a:spcPct val="114000"/>
              </a:lnSpc>
              <a:spcBef>
                <a:spcPts val="400"/>
              </a:spcBef>
              <a:spcAft>
                <a:spcPts val="0"/>
              </a:spcAft>
              <a:buNone/>
            </a:pPr>
            <a:r>
              <a:rPr sz="1240" b="0" i="0">
                <a:solidFill>
                  <a:srgbClr val="1E2A35"/>
                </a:solidFill>
                <a:latin typeface="Segoe UI"/>
                <a:cs typeface="Segoe UI"/>
                <a:ea typeface="Segoe UI"/>
              </a:rPr>
              <a:t>Which optimizers forgive a badly chosen learning rate, and which demand a precise one.</a:t>
            </a:r>
          </a:p>
        </p:txBody>
      </p:sp>
      <p:sp>
        <p:nvSpPr>
          <p:cNvPr id="17" name="Rectangle 16"/>
          <p:cNvSpPr/>
          <p:nvPr/>
        </p:nvSpPr>
        <p:spPr>
          <a:xfrm>
            <a:off x="8115604" y="2139696"/>
            <a:ext cx="3417722" cy="2395728"/>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115604" y="2139696"/>
            <a:ext cx="3417722"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53348" y="2359152"/>
            <a:ext cx="2942234" cy="2011680"/>
          </a:xfrm>
          <a:prstGeom prst="rect">
            <a:avLst/>
          </a:prstGeom>
          <a:noFill/>
        </p:spPr>
        <p:txBody>
          <a:bodyPr wrap="square" anchor="t" lIns="0" rIns="0" tIns="0" bIns="0">
            <a:noAutofit/>
          </a:bodyPr>
          <a:lstStyle/>
          <a:p>
            <a:pPr>
              <a:lnSpc>
                <a:spcPct val="105000"/>
              </a:lnSpc>
              <a:spcBef>
                <a:spcPts val="0"/>
              </a:spcBef>
              <a:spcAft>
                <a:spcPts val="500"/>
              </a:spcAft>
              <a:buNone/>
            </a:pPr>
            <a:r>
              <a:rPr sz="1450" b="1" i="0">
                <a:solidFill>
                  <a:srgbClr val="0E5688"/>
                </a:solidFill>
                <a:latin typeface="Segoe UI"/>
                <a:cs typeface="Segoe UI"/>
                <a:ea typeface="Segoe UI"/>
              </a:rPr>
              <a:t>RQ3  ·  Geometry</a:t>
            </a:r>
          </a:p>
          <a:p>
            <a:pPr>
              <a:lnSpc>
                <a:spcPct val="114000"/>
              </a:lnSpc>
              <a:spcBef>
                <a:spcPts val="400"/>
              </a:spcBef>
              <a:spcAft>
                <a:spcPts val="0"/>
              </a:spcAft>
              <a:buNone/>
            </a:pPr>
            <a:r>
              <a:rPr sz="1240" b="0" i="0">
                <a:solidFill>
                  <a:srgbClr val="1E2A35"/>
                </a:solidFill>
                <a:latin typeface="Segoe UI"/>
                <a:cs typeface="Segoe UI"/>
                <a:ea typeface="Segoe UI"/>
              </a:rPr>
              <a:t>What does a correct loss-landscape visualization reveal, and how does a naive one mislead?</a:t>
            </a:r>
          </a:p>
          <a:p>
            <a:pPr>
              <a:lnSpc>
                <a:spcPct val="114000"/>
              </a:lnSpc>
              <a:spcBef>
                <a:spcPts val="400"/>
              </a:spcBef>
              <a:spcAft>
                <a:spcPts val="0"/>
              </a:spcAft>
              <a:buNone/>
            </a:pPr>
            <a:r>
              <a:rPr sz="1240" b="0" i="0">
                <a:solidFill>
                  <a:srgbClr val="1E2A35"/>
                </a:solidFill>
                <a:latin typeface="Segoe UI"/>
                <a:cs typeface="Segoe UI"/>
                <a:ea typeface="Segoe UI"/>
              </a:rPr>
              <a:t>Also a cheap curvature measure, validated against the exact Hessian.</a:t>
            </a:r>
          </a:p>
        </p:txBody>
      </p:sp>
      <p:sp>
        <p:nvSpPr>
          <p:cNvPr id="20" name="Rectangle 19"/>
          <p:cNvSpPr/>
          <p:nvPr/>
        </p:nvSpPr>
        <p:spPr>
          <a:xfrm>
            <a:off x="658368" y="4828032"/>
            <a:ext cx="10874959" cy="914400"/>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8368" y="4828032"/>
            <a:ext cx="68580" cy="914400"/>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9264" y="4837176"/>
            <a:ext cx="10308031" cy="896112"/>
          </a:xfrm>
          <a:prstGeom prst="rect">
            <a:avLst/>
          </a:prstGeom>
          <a:noFill/>
        </p:spPr>
        <p:txBody>
          <a:bodyPr wrap="square" anchor="ctr" lIns="0" rIns="0" tIns="0" bIns="0">
            <a:noAutofit/>
          </a:bodyPr>
          <a:lstStyle/>
          <a:p>
            <a:pPr>
              <a:lnSpc>
                <a:spcPct val="115000"/>
              </a:lnSpc>
              <a:spcBef>
                <a:spcPts val="0"/>
              </a:spcBef>
              <a:spcAft>
                <a:spcPts val="0"/>
              </a:spcAft>
              <a:buNone/>
            </a:pPr>
            <a:r>
              <a:rPr sz="1450" b="1" i="0">
                <a:solidFill>
                  <a:srgbClr val="0E5688"/>
                </a:solidFill>
                <a:latin typeface="Segoe UI"/>
                <a:cs typeface="Segoe UI"/>
                <a:ea typeface="Segoe UI"/>
              </a:rPr>
              <a:t>The deliverable is the comparison protocol itself, rather than a verdict on which optimizer wins.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METHODOLOGY</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The fairness invariant, encoded in software</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4 / 10</a:t>
            </a:r>
          </a:p>
        </p:txBody>
      </p:sp>
      <p:sp>
        <p:nvSpPr>
          <p:cNvPr id="10" name="Rectangle 9"/>
          <p:cNvSpPr/>
          <p:nvPr/>
        </p:nvSpPr>
        <p:spPr>
          <a:xfrm>
            <a:off x="658368" y="1444752"/>
            <a:ext cx="10874959" cy="960120"/>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444752"/>
            <a:ext cx="68580" cy="960120"/>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9264" y="1453896"/>
            <a:ext cx="10308031" cy="941832"/>
          </a:xfrm>
          <a:prstGeom prst="rect">
            <a:avLst/>
          </a:prstGeom>
          <a:noFill/>
        </p:spPr>
        <p:txBody>
          <a:bodyPr wrap="square" anchor="ctr" lIns="0" rIns="0" tIns="0" bIns="0">
            <a:noAutofit/>
          </a:bodyPr>
          <a:lstStyle/>
          <a:p>
            <a:pPr>
              <a:lnSpc>
                <a:spcPct val="115000"/>
              </a:lnSpc>
              <a:spcBef>
                <a:spcPts val="0"/>
              </a:spcBef>
              <a:spcAft>
                <a:spcPts val="0"/>
              </a:spcAft>
              <a:buNone/>
            </a:pPr>
            <a:r>
              <a:rPr sz="1500" b="1" i="0">
                <a:solidFill>
                  <a:srgbClr val="0E5688"/>
                </a:solidFill>
                <a:latin typeface="Segoe UI"/>
                <a:cs typeface="Segoe UI"/>
                <a:ea typeface="Segoe UI"/>
              </a:rPr>
              <a:t>Identical model, data order, initialization and compute budget for every optimizer; only the hyperparameter search space may vary.</a:t>
            </a:r>
          </a:p>
          <a:p>
            <a:pPr>
              <a:lnSpc>
                <a:spcPct val="115000"/>
              </a:lnSpc>
              <a:spcBef>
                <a:spcPts val="600"/>
              </a:spcBef>
              <a:spcAft>
                <a:spcPts val="0"/>
              </a:spcAft>
              <a:buNone/>
            </a:pPr>
            <a:r>
              <a:rPr sz="1150" b="0" i="0">
                <a:solidFill>
                  <a:srgbClr val="5C6B78"/>
                </a:solidFill>
                <a:latin typeface="Segoe UI"/>
                <a:cs typeface="Segoe UI"/>
                <a:ea typeface="Segoe UI"/>
              </a:rPr>
              <a:t>Compared: SGD + momentum, AdamW, Lion and Sophia (plus Muon under full fine-tuning)</a:t>
            </a:r>
          </a:p>
        </p:txBody>
      </p:sp>
      <p:sp>
        <p:nvSpPr>
          <p:cNvPr id="13" name="Rectangle 12"/>
          <p:cNvSpPr/>
          <p:nvPr/>
        </p:nvSpPr>
        <p:spPr>
          <a:xfrm>
            <a:off x="658368" y="2615184"/>
            <a:ext cx="3429914" cy="1536192"/>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58368" y="2615184"/>
            <a:ext cx="3429914"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2834639"/>
            <a:ext cx="2954426" cy="1152144"/>
          </a:xfrm>
          <a:prstGeom prst="rect">
            <a:avLst/>
          </a:prstGeom>
          <a:noFill/>
        </p:spPr>
        <p:txBody>
          <a:bodyPr wrap="square" anchor="t" lIns="0" rIns="0" tIns="0" bIns="0">
            <a:noAutofit/>
          </a:bodyPr>
          <a:lstStyle/>
          <a:p>
            <a:pPr>
              <a:lnSpc>
                <a:spcPct val="105000"/>
              </a:lnSpc>
              <a:spcBef>
                <a:spcPts val="0"/>
              </a:spcBef>
              <a:spcAft>
                <a:spcPts val="500"/>
              </a:spcAft>
              <a:buNone/>
            </a:pPr>
            <a:r>
              <a:rPr sz="1350" b="1" i="0">
                <a:solidFill>
                  <a:srgbClr val="0E5688"/>
                </a:solidFill>
                <a:latin typeface="Segoe UI"/>
                <a:cs typeface="Segoe UI"/>
                <a:ea typeface="Segoe UI"/>
              </a:rPr>
              <a:t>Workload</a:t>
            </a:r>
          </a:p>
          <a:p>
            <a:pPr>
              <a:lnSpc>
                <a:spcPct val="114000"/>
              </a:lnSpc>
              <a:spcBef>
                <a:spcPts val="400"/>
              </a:spcBef>
              <a:spcAft>
                <a:spcPts val="0"/>
              </a:spcAft>
              <a:buNone/>
            </a:pPr>
            <a:r>
              <a:rPr sz="1180" b="0" i="0">
                <a:solidFill>
                  <a:srgbClr val="1E2A35"/>
                </a:solidFill>
                <a:latin typeface="Segoe UI"/>
                <a:cs typeface="Segoe UI"/>
                <a:ea typeface="Segoe UI"/>
              </a:rPr>
              <a:t>GPT-2 (124M) + LoRA r=8 on WikiText-2, packed into 256-token blocks. Second model: SmolLM2-360M (Llama-style).</a:t>
            </a:r>
          </a:p>
        </p:txBody>
      </p:sp>
      <p:sp>
        <p:nvSpPr>
          <p:cNvPr id="16" name="Rectangle 15"/>
          <p:cNvSpPr/>
          <p:nvPr/>
        </p:nvSpPr>
        <p:spPr>
          <a:xfrm>
            <a:off x="4380890" y="2615184"/>
            <a:ext cx="3429914" cy="1536192"/>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380890" y="2615184"/>
            <a:ext cx="3429914"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618634" y="2834639"/>
            <a:ext cx="2954426" cy="1152144"/>
          </a:xfrm>
          <a:prstGeom prst="rect">
            <a:avLst/>
          </a:prstGeom>
          <a:noFill/>
        </p:spPr>
        <p:txBody>
          <a:bodyPr wrap="square" anchor="t" lIns="0" rIns="0" tIns="0" bIns="0">
            <a:noAutofit/>
          </a:bodyPr>
          <a:lstStyle/>
          <a:p>
            <a:pPr>
              <a:lnSpc>
                <a:spcPct val="105000"/>
              </a:lnSpc>
              <a:spcBef>
                <a:spcPts val="0"/>
              </a:spcBef>
              <a:spcAft>
                <a:spcPts val="500"/>
              </a:spcAft>
              <a:buNone/>
            </a:pPr>
            <a:r>
              <a:rPr sz="1350" b="1" i="0">
                <a:solidFill>
                  <a:srgbClr val="0E5688"/>
                </a:solidFill>
                <a:latin typeface="Segoe UI"/>
                <a:cs typeface="Segoe UI"/>
                <a:ea typeface="Segoe UI"/>
              </a:rPr>
              <a:t>Shared budget</a:t>
            </a:r>
          </a:p>
          <a:p>
            <a:pPr>
              <a:lnSpc>
                <a:spcPct val="114000"/>
              </a:lnSpc>
              <a:spcBef>
                <a:spcPts val="400"/>
              </a:spcBef>
              <a:spcAft>
                <a:spcPts val="0"/>
              </a:spcAft>
              <a:buNone/>
            </a:pPr>
            <a:r>
              <a:rPr sz="1180" b="0" i="0">
                <a:solidFill>
                  <a:srgbClr val="1E2A35"/>
                </a:solidFill>
                <a:latin typeface="Segoe UI"/>
                <a:cs typeface="Segoe UI"/>
                <a:ea typeface="Segoe UI"/>
              </a:rPr>
              <a:t>800 steps, batch 8 × 256, 5% warm-up + cosine decay, gradient clip 1.0, fp32 weights with bf16 autocast.</a:t>
            </a:r>
          </a:p>
        </p:txBody>
      </p:sp>
      <p:sp>
        <p:nvSpPr>
          <p:cNvPr id="19" name="Rectangle 18"/>
          <p:cNvSpPr/>
          <p:nvPr/>
        </p:nvSpPr>
        <p:spPr>
          <a:xfrm>
            <a:off x="8103412" y="2615184"/>
            <a:ext cx="3429914" cy="1536192"/>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103412" y="2615184"/>
            <a:ext cx="3429914"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41156" y="2834639"/>
            <a:ext cx="2954426" cy="1152144"/>
          </a:xfrm>
          <a:prstGeom prst="rect">
            <a:avLst/>
          </a:prstGeom>
          <a:noFill/>
        </p:spPr>
        <p:txBody>
          <a:bodyPr wrap="square" anchor="t" lIns="0" rIns="0" tIns="0" bIns="0">
            <a:noAutofit/>
          </a:bodyPr>
          <a:lstStyle/>
          <a:p>
            <a:pPr>
              <a:lnSpc>
                <a:spcPct val="105000"/>
              </a:lnSpc>
              <a:spcBef>
                <a:spcPts val="0"/>
              </a:spcBef>
              <a:spcAft>
                <a:spcPts val="500"/>
              </a:spcAft>
              <a:buNone/>
            </a:pPr>
            <a:r>
              <a:rPr sz="1350" b="1" i="0">
                <a:solidFill>
                  <a:srgbClr val="0E5688"/>
                </a:solidFill>
                <a:latin typeface="Segoe UI"/>
                <a:cs typeface="Segoe UI"/>
                <a:ea typeface="Segoe UI"/>
              </a:rPr>
              <a:t>Pre-registered search</a:t>
            </a:r>
          </a:p>
          <a:p>
            <a:pPr>
              <a:lnSpc>
                <a:spcPct val="114000"/>
              </a:lnSpc>
              <a:spcBef>
                <a:spcPts val="400"/>
              </a:spcBef>
              <a:spcAft>
                <a:spcPts val="0"/>
              </a:spcAft>
              <a:buNone/>
            </a:pPr>
            <a:r>
              <a:rPr sz="1180" b="0" i="0">
                <a:solidFill>
                  <a:srgbClr val="1E2A35"/>
                </a:solidFill>
                <a:latin typeface="Segoe UI"/>
                <a:cs typeface="Segoe UI"/>
                <a:ea typeface="Segoe UI"/>
              </a:rPr>
              <a:t>18 log-spaced learning rates per optimizer, declared before the sweep, with no post-hoc widening of a losing range.</a:t>
            </a:r>
          </a:p>
        </p:txBody>
      </p:sp>
      <p:sp>
        <p:nvSpPr>
          <p:cNvPr id="22" name="Rectangle 21"/>
          <p:cNvSpPr/>
          <p:nvPr/>
        </p:nvSpPr>
        <p:spPr>
          <a:xfrm>
            <a:off x="658368" y="4315968"/>
            <a:ext cx="3429914" cy="1536192"/>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4315968"/>
            <a:ext cx="3429914"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96112" y="4535424"/>
            <a:ext cx="2954426" cy="1152144"/>
          </a:xfrm>
          <a:prstGeom prst="rect">
            <a:avLst/>
          </a:prstGeom>
          <a:noFill/>
        </p:spPr>
        <p:txBody>
          <a:bodyPr wrap="square" anchor="t" lIns="0" rIns="0" tIns="0" bIns="0">
            <a:noAutofit/>
          </a:bodyPr>
          <a:lstStyle/>
          <a:p>
            <a:pPr>
              <a:lnSpc>
                <a:spcPct val="105000"/>
              </a:lnSpc>
              <a:spcBef>
                <a:spcPts val="0"/>
              </a:spcBef>
              <a:spcAft>
                <a:spcPts val="500"/>
              </a:spcAft>
              <a:buNone/>
            </a:pPr>
            <a:r>
              <a:rPr sz="1350" b="1" i="0">
                <a:solidFill>
                  <a:srgbClr val="0E5688"/>
                </a:solidFill>
                <a:latin typeface="Segoe UI"/>
                <a:cs typeface="Segoe UI"/>
                <a:ea typeface="Segoe UI"/>
              </a:rPr>
              <a:t>Final evaluation</a:t>
            </a:r>
          </a:p>
          <a:p>
            <a:pPr>
              <a:lnSpc>
                <a:spcPct val="114000"/>
              </a:lnSpc>
              <a:spcBef>
                <a:spcPts val="400"/>
              </a:spcBef>
              <a:spcAft>
                <a:spcPts val="0"/>
              </a:spcAft>
              <a:buNone/>
            </a:pPr>
            <a:r>
              <a:rPr sz="1180" b="0" i="0">
                <a:solidFill>
                  <a:srgbClr val="1E2A35"/>
                </a:solidFill>
                <a:latin typeface="Segoe UI"/>
                <a:cs typeface="Segoe UI"/>
                <a:ea typeface="Segoe UI"/>
              </a:rPr>
              <a:t>Best configuration re-trained on 5 seeds; bootstrap 95% CI; Mann–Whitney U with Cliff’s δ and Hedges’ g.</a:t>
            </a:r>
          </a:p>
        </p:txBody>
      </p:sp>
      <p:sp>
        <p:nvSpPr>
          <p:cNvPr id="25" name="Rectangle 24"/>
          <p:cNvSpPr/>
          <p:nvPr/>
        </p:nvSpPr>
        <p:spPr>
          <a:xfrm>
            <a:off x="4380890" y="4315968"/>
            <a:ext cx="3429914" cy="1536192"/>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380890" y="4315968"/>
            <a:ext cx="3429914"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618634" y="4535424"/>
            <a:ext cx="2954426" cy="1152144"/>
          </a:xfrm>
          <a:prstGeom prst="rect">
            <a:avLst/>
          </a:prstGeom>
          <a:noFill/>
        </p:spPr>
        <p:txBody>
          <a:bodyPr wrap="square" anchor="t" lIns="0" rIns="0" tIns="0" bIns="0">
            <a:noAutofit/>
          </a:bodyPr>
          <a:lstStyle/>
          <a:p>
            <a:pPr>
              <a:lnSpc>
                <a:spcPct val="105000"/>
              </a:lnSpc>
              <a:spcBef>
                <a:spcPts val="0"/>
              </a:spcBef>
              <a:spcAft>
                <a:spcPts val="500"/>
              </a:spcAft>
              <a:buNone/>
            </a:pPr>
            <a:r>
              <a:rPr sz="1350" b="1" i="0">
                <a:solidFill>
                  <a:srgbClr val="0E5688"/>
                </a:solidFill>
                <a:latin typeface="Segoe UI"/>
                <a:cs typeface="Segoe UI"/>
                <a:ea typeface="Segoe UI"/>
              </a:rPr>
              <a:t>Extensions</a:t>
            </a:r>
          </a:p>
          <a:p>
            <a:pPr>
              <a:lnSpc>
                <a:spcPct val="114000"/>
              </a:lnSpc>
              <a:spcBef>
                <a:spcPts val="400"/>
              </a:spcBef>
              <a:spcAft>
                <a:spcPts val="0"/>
              </a:spcAft>
              <a:buNone/>
            </a:pPr>
            <a:r>
              <a:rPr sz="1180" b="0" i="0">
                <a:solidFill>
                  <a:srgbClr val="1E2A35"/>
                </a:solidFill>
                <a:latin typeface="Segoe UI"/>
                <a:cs typeface="Segoe UI"/>
                <a:ea typeface="Segoe UI"/>
              </a:rPr>
              <a:t>Full fine-tuning of all 124M weights (+ Muon), 2-D tuning grids, second model, filter-normalized slices, Hessian curvature.</a:t>
            </a:r>
          </a:p>
        </p:txBody>
      </p:sp>
      <p:sp>
        <p:nvSpPr>
          <p:cNvPr id="28" name="Rectangle 27"/>
          <p:cNvSpPr/>
          <p:nvPr/>
        </p:nvSpPr>
        <p:spPr>
          <a:xfrm>
            <a:off x="8103412" y="4315968"/>
            <a:ext cx="3429914" cy="1536192"/>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103412" y="4315968"/>
            <a:ext cx="3429914"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341156" y="4535424"/>
            <a:ext cx="2954426" cy="1152144"/>
          </a:xfrm>
          <a:prstGeom prst="rect">
            <a:avLst/>
          </a:prstGeom>
          <a:noFill/>
        </p:spPr>
        <p:txBody>
          <a:bodyPr wrap="square" anchor="t" lIns="0" rIns="0" tIns="0" bIns="0">
            <a:noAutofit/>
          </a:bodyPr>
          <a:lstStyle/>
          <a:p>
            <a:pPr>
              <a:lnSpc>
                <a:spcPct val="105000"/>
              </a:lnSpc>
              <a:spcBef>
                <a:spcPts val="0"/>
              </a:spcBef>
              <a:spcAft>
                <a:spcPts val="500"/>
              </a:spcAft>
              <a:buNone/>
            </a:pPr>
            <a:r>
              <a:rPr sz="1350" b="1" i="0">
                <a:solidFill>
                  <a:srgbClr val="0E5688"/>
                </a:solidFill>
                <a:latin typeface="Segoe UI"/>
                <a:cs typeface="Segoe UI"/>
                <a:ea typeface="Segoe UI"/>
              </a:rPr>
              <a:t>Reproducibility</a:t>
            </a:r>
          </a:p>
          <a:p>
            <a:pPr>
              <a:lnSpc>
                <a:spcPct val="114000"/>
              </a:lnSpc>
              <a:spcBef>
                <a:spcPts val="400"/>
              </a:spcBef>
              <a:spcAft>
                <a:spcPts val="0"/>
              </a:spcAft>
              <a:buNone/>
            </a:pPr>
            <a:r>
              <a:rPr sz="1180" b="0" i="0">
                <a:solidFill>
                  <a:srgbClr val="1E2A35"/>
                </a:solidFill>
                <a:latin typeface="Segoe UI"/>
                <a:cs typeface="Segoe UI"/>
                <a:ea typeface="Segoe UI"/>
              </a:rPr>
              <a:t>One declarative YAML config, fixed seeds, logged environment and per-trial JSON, so every number is regenerable without retraining.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RQ1  ·  RESULTS</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Under a fair budget the four optimizers finish level</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5 / 10</a:t>
            </a:r>
          </a:p>
        </p:txBody>
      </p:sp>
      <p:graphicFrame>
        <p:nvGraphicFramePr>
          <p:cNvPr id="10" name="Table 9"/>
          <p:cNvGraphicFramePr>
            <a:graphicFrameLocks noGrp="1"/>
          </p:cNvGraphicFramePr>
          <p:nvPr/>
        </p:nvGraphicFramePr>
        <p:xfrm>
          <a:off x="658368" y="1444752"/>
          <a:ext cx="10853928" cy="1664208"/>
        </p:xfrm>
        <a:graphic>
          <a:graphicData uri="http://schemas.openxmlformats.org/drawingml/2006/table">
            <a:tbl>
              <a:tblPr firstRow="0" bandRow="0" firstCol="0" bandCol="0" lastRow="0" lastCol="0">
                <a:tableStyleId>{2D5ABB26-0587-4C30-8999-92F81FD0307C}</a:tableStyleId>
              </a:tblPr>
              <a:tblGrid>
                <a:gridCol w="2212848"/>
                <a:gridCol w="1188720"/>
                <a:gridCol w="1993392"/>
                <a:gridCol w="1298448"/>
                <a:gridCol w="1353312"/>
                <a:gridCol w="1481328"/>
                <a:gridCol w="1325880"/>
              </a:tblGrid>
              <a:tr h="402336">
                <a:tc>
                  <a:txBody>
                    <a:bodyPr wrap="square"/>
                    <a:lstStyle/>
                    <a:p>
                      <a:pPr algn="l">
                        <a:lnSpc>
                          <a:spcPct val="100000"/>
                        </a:lnSpc>
                        <a:spcBef>
                          <a:spcPts val="0"/>
                        </a:spcBef>
                        <a:spcAft>
                          <a:spcPts val="0"/>
                        </a:spcAft>
                        <a:buNone/>
                      </a:pPr>
                      <a:r>
                        <a:rPr sz="1050" b="1" i="0">
                          <a:solidFill>
                            <a:srgbClr val="FFFFFF"/>
                          </a:solidFill>
                          <a:latin typeface="Segoe UI"/>
                          <a:cs typeface="Segoe UI"/>
                          <a:ea typeface="Segoe UI"/>
                        </a:rPr>
                        <a:t>Optimizer</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50" b="1" i="0">
                          <a:solidFill>
                            <a:srgbClr val="FFFFFF"/>
                          </a:solidFill>
                          <a:latin typeface="Segoe UI"/>
                          <a:cs typeface="Segoe UI"/>
                          <a:ea typeface="Segoe UI"/>
                        </a:rPr>
                        <a:t>Best LR</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50" b="1" i="0">
                          <a:solidFill>
                            <a:srgbClr val="FFFFFF"/>
                          </a:solidFill>
                          <a:latin typeface="Segoe UI"/>
                          <a:cs typeface="Segoe UI"/>
                          <a:ea typeface="Segoe UI"/>
                        </a:rPr>
                        <a:t>Val loss (mean ± std)</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50" b="1" i="0">
                          <a:solidFill>
                            <a:srgbClr val="FFFFFF"/>
                          </a:solidFill>
                          <a:latin typeface="Segoe UI"/>
                          <a:cs typeface="Segoe UI"/>
                          <a:ea typeface="Segoe UI"/>
                        </a:rPr>
                        <a:t>Steps → 3.20</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50" b="1" i="0">
                          <a:solidFill>
                            <a:srgbClr val="FFFFFF"/>
                          </a:solidFill>
                          <a:latin typeface="Segoe UI"/>
                          <a:cs typeface="Segoe UI"/>
                          <a:ea typeface="Segoe UI"/>
                        </a:rPr>
                        <a:t>Seconds → target</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50" b="1" i="0">
                          <a:solidFill>
                            <a:srgbClr val="FFFFFF"/>
                          </a:solidFill>
                          <a:latin typeface="Segoe UI"/>
                          <a:cs typeface="Segoe UI"/>
                          <a:ea typeface="Segoe UI"/>
                        </a:rPr>
                        <a:t>Opt. state (MB)</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50" b="1" i="0">
                          <a:solidFill>
                            <a:srgbClr val="FFFFFF"/>
                          </a:solidFill>
                          <a:latin typeface="Segoe UI"/>
                          <a:cs typeface="Segoe UI"/>
                          <a:ea typeface="Segoe UI"/>
                        </a:rPr>
                        <a:t>Step time (ms)</a:t>
                      </a:r>
                    </a:p>
                  </a:txBody>
                  <a:tcPr marL="91440" marR="91440" marT="18288" marB="18288" anchor="ctr">
                    <a:solidFill>
                      <a:srgbClr val="0E5688"/>
                    </a:solidFill>
                  </a:tcPr>
                </a:tc>
              </a:tr>
              <a:tr h="315468">
                <a:tc>
                  <a:txBody>
                    <a:bodyPr wrap="square"/>
                    <a:lstStyle/>
                    <a:p>
                      <a:pPr algn="l">
                        <a:lnSpc>
                          <a:spcPct val="100000"/>
                        </a:lnSpc>
                        <a:spcBef>
                          <a:spcPts val="0"/>
                        </a:spcBef>
                        <a:spcAft>
                          <a:spcPts val="0"/>
                        </a:spcAft>
                        <a:buNone/>
                      </a:pPr>
                      <a:r>
                        <a:rPr sz="1180" b="1" i="0">
                          <a:solidFill>
                            <a:srgbClr val="0E5688"/>
                          </a:solidFill>
                          <a:latin typeface="Segoe UI"/>
                          <a:cs typeface="Segoe UI"/>
                          <a:ea typeface="Segoe UI"/>
                        </a:rPr>
                        <a:t>AdamW</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80" b="1" i="0">
                          <a:solidFill>
                            <a:srgbClr val="0E5688"/>
                          </a:solidFill>
                          <a:latin typeface="Segoe UI"/>
                          <a:cs typeface="Segoe UI"/>
                          <a:ea typeface="Segoe UI"/>
                        </a:rPr>
                        <a:t>3.0e-3</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80" b="1" i="0">
                          <a:solidFill>
                            <a:srgbClr val="0E5688"/>
                          </a:solidFill>
                          <a:latin typeface="Segoe UI"/>
                          <a:cs typeface="Segoe UI"/>
                          <a:ea typeface="Segoe UI"/>
                        </a:rPr>
                        <a:t>3.1763 ± 0.0021</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80" b="1" i="0">
                          <a:solidFill>
                            <a:srgbClr val="0E5688"/>
                          </a:solidFill>
                          <a:latin typeface="Segoe UI"/>
                          <a:cs typeface="Segoe UI"/>
                          <a:ea typeface="Segoe UI"/>
                        </a:rPr>
                        <a:t>400</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80" b="1" i="0">
                          <a:solidFill>
                            <a:srgbClr val="0E5688"/>
                          </a:solidFill>
                          <a:latin typeface="Segoe UI"/>
                          <a:cs typeface="Segoe UI"/>
                          <a:ea typeface="Segoe UI"/>
                        </a:rPr>
                        <a:t>98</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80" b="1" i="0">
                          <a:solidFill>
                            <a:srgbClr val="0E5688"/>
                          </a:solidFill>
                          <a:latin typeface="Segoe UI"/>
                          <a:cs typeface="Segoe UI"/>
                          <a:ea typeface="Segoe UI"/>
                        </a:rPr>
                        <a:t>2.36</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80" b="1" i="0">
                          <a:solidFill>
                            <a:srgbClr val="0E5688"/>
                          </a:solidFill>
                          <a:latin typeface="Segoe UI"/>
                          <a:cs typeface="Segoe UI"/>
                          <a:ea typeface="Segoe UI"/>
                        </a:rPr>
                        <a:t>241</a:t>
                      </a:r>
                    </a:p>
                  </a:txBody>
                  <a:tcPr marL="91440" marR="91440" marT="18288" marB="18288" anchor="ctr">
                    <a:solidFill>
                      <a:srgbClr val="E2EEF9"/>
                    </a:solidFill>
                  </a:tcPr>
                </a:tc>
              </a:tr>
              <a:tr h="315468">
                <a:tc>
                  <a:txBody>
                    <a:bodyPr wrap="square"/>
                    <a:lstStyle/>
                    <a:p>
                      <a:pPr algn="l">
                        <a:lnSpc>
                          <a:spcPct val="100000"/>
                        </a:lnSpc>
                        <a:spcBef>
                          <a:spcPts val="0"/>
                        </a:spcBef>
                        <a:spcAft>
                          <a:spcPts val="0"/>
                        </a:spcAft>
                        <a:buNone/>
                      </a:pPr>
                      <a:r>
                        <a:rPr sz="1180" b="1" i="0">
                          <a:solidFill>
                            <a:srgbClr val="1E2A35"/>
                          </a:solidFill>
                          <a:latin typeface="Segoe UI"/>
                          <a:cs typeface="Segoe UI"/>
                          <a:ea typeface="Segoe UI"/>
                        </a:rPr>
                        <a:t>SGD + momentum</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4.4e-1</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3.1813 ± 0.0032</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520</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91</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1.18</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176</a:t>
                      </a:r>
                    </a:p>
                  </a:txBody>
                  <a:tcPr marL="91440" marR="91440" marT="18288" marB="18288" anchor="ctr">
                    <a:solidFill>
                      <a:srgbClr val="FFFFFF"/>
                    </a:solidFill>
                  </a:tcPr>
                </a:tc>
              </a:tr>
              <a:tr h="315468">
                <a:tc>
                  <a:txBody>
                    <a:bodyPr wrap="square"/>
                    <a:lstStyle/>
                    <a:p>
                      <a:pPr algn="l">
                        <a:lnSpc>
                          <a:spcPct val="100000"/>
                        </a:lnSpc>
                        <a:spcBef>
                          <a:spcPts val="0"/>
                        </a:spcBef>
                        <a:spcAft>
                          <a:spcPts val="0"/>
                        </a:spcAft>
                        <a:buNone/>
                      </a:pPr>
                      <a:r>
                        <a:rPr sz="1180" b="1" i="0">
                          <a:solidFill>
                            <a:srgbClr val="1E2A35"/>
                          </a:solidFill>
                          <a:latin typeface="Segoe UI"/>
                          <a:cs typeface="Segoe UI"/>
                          <a:ea typeface="Segoe UI"/>
                        </a:rPr>
                        <a:t>Sophia</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5.8e-4</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3.1819 ± 0.0013</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500</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191</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2.36</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383</a:t>
                      </a:r>
                    </a:p>
                  </a:txBody>
                  <a:tcPr marL="91440" marR="91440" marT="18288" marB="18288" anchor="ctr">
                    <a:solidFill>
                      <a:srgbClr val="EFF6FC"/>
                    </a:solidFill>
                  </a:tcPr>
                </a:tc>
              </a:tr>
              <a:tr h="315468">
                <a:tc>
                  <a:txBody>
                    <a:bodyPr wrap="square"/>
                    <a:lstStyle/>
                    <a:p>
                      <a:pPr algn="l">
                        <a:lnSpc>
                          <a:spcPct val="100000"/>
                        </a:lnSpc>
                        <a:spcBef>
                          <a:spcPts val="0"/>
                        </a:spcBef>
                        <a:spcAft>
                          <a:spcPts val="0"/>
                        </a:spcAft>
                        <a:buNone/>
                      </a:pPr>
                      <a:r>
                        <a:rPr sz="1180" b="1" i="0">
                          <a:solidFill>
                            <a:srgbClr val="1E2A35"/>
                          </a:solidFill>
                          <a:latin typeface="Segoe UI"/>
                          <a:cs typeface="Segoe UI"/>
                          <a:ea typeface="Segoe UI"/>
                        </a:rPr>
                        <a:t>Lion</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6.7e-4</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3.1881 ± 0.0019</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540</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54</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1.18</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80" b="0" i="0">
                          <a:solidFill>
                            <a:srgbClr val="1E2A35"/>
                          </a:solidFill>
                          <a:latin typeface="Segoe UI"/>
                          <a:cs typeface="Segoe UI"/>
                          <a:ea typeface="Segoe UI"/>
                        </a:rPr>
                        <a:t>100</a:t>
                      </a:r>
                    </a:p>
                  </a:txBody>
                  <a:tcPr marL="91440" marR="91440" marT="18288" marB="18288" anchor="ctr">
                    <a:solidFill>
                      <a:srgbClr val="FFFFFF"/>
                    </a:solidFill>
                  </a:tcPr>
                </a:tc>
              </a:tr>
            </a:tbl>
          </a:graphicData>
        </a:graphic>
      </p:graphicFrame>
      <p:sp>
        <p:nvSpPr>
          <p:cNvPr id="11" name="TextBox 10"/>
          <p:cNvSpPr txBox="1"/>
          <p:nvPr/>
        </p:nvSpPr>
        <p:spPr>
          <a:xfrm>
            <a:off x="658368" y="3310128"/>
            <a:ext cx="6263640" cy="2743200"/>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350" b="1" i="0">
                <a:solidFill>
                  <a:srgbClr val="0E5688"/>
                </a:solidFill>
                <a:latin typeface="Segoe UI"/>
                <a:cs typeface="Segoe UI"/>
                <a:ea typeface="Segoe UI"/>
              </a:rPr>
              <a:t>Spread of only 0.012 nats </a:t>
            </a:r>
            <a:r>
              <a:rPr sz="1350" b="0" i="0">
                <a:solidFill>
                  <a:srgbClr val="1E2A35"/>
                </a:solidFill>
                <a:latin typeface="Segoe UI"/>
                <a:cs typeface="Segoe UI"/>
                <a:ea typeface="Segoe UI"/>
              </a:rPr>
              <a:t>(≈ 0.3 perplexity), the same order as one optimizer’s seed-to-seed noise.</a:t>
            </a:r>
          </a:p>
          <a:p>
            <a:pPr marL="237744" indent="-237744">
              <a:lnSpc>
                <a:spcPct val="116000"/>
              </a:lnSpc>
              <a:spcBef>
                <a:spcPts val="900"/>
              </a:spcBef>
              <a:spcAft>
                <a:spcPts val="0"/>
              </a:spcAft>
              <a:buClr>
                <a:srgbClr val="68AEDF"/>
              </a:buClr>
              <a:buSzPct val="90000"/>
              <a:buFont typeface="Arial" pitchFamily="34" charset="0"/>
              <a:buChar char="▪"/>
            </a:pPr>
            <a:r>
              <a:rPr sz="1350" b="1" i="0">
                <a:solidFill>
                  <a:srgbClr val="0E5688"/>
                </a:solidFill>
                <a:latin typeface="Segoe UI"/>
                <a:cs typeface="Segoe UI"/>
                <a:ea typeface="Segoe UI"/>
              </a:rPr>
              <a:t>Reliable but trivial. </a:t>
            </a:r>
            <a:r>
              <a:rPr sz="1350" b="0" i="0">
                <a:solidFill>
                  <a:srgbClr val="1E2A35"/>
                </a:solidFill>
                <a:latin typeface="Segoe UI"/>
                <a:cs typeface="Segoe UI"/>
                <a:ea typeface="Segoe UI"/>
              </a:rPr>
              <a:t>Cliff’s δ = 1.0 against Lion and Sophia, yet against SGD the gap is borderline (p ≈ 0.056).</a:t>
            </a:r>
          </a:p>
          <a:p>
            <a:pPr marL="237744" indent="-237744">
              <a:lnSpc>
                <a:spcPct val="116000"/>
              </a:lnSpc>
              <a:spcBef>
                <a:spcPts val="900"/>
              </a:spcBef>
              <a:spcAft>
                <a:spcPts val="0"/>
              </a:spcAft>
              <a:buClr>
                <a:srgbClr val="68AEDF"/>
              </a:buClr>
              <a:buSzPct val="90000"/>
              <a:buFont typeface="Arial" pitchFamily="34" charset="0"/>
              <a:buChar char="▪"/>
            </a:pPr>
            <a:r>
              <a:rPr sz="1350" b="1" i="0">
                <a:solidFill>
                  <a:srgbClr val="0E5688"/>
                </a:solidFill>
                <a:latin typeface="Segoe UI"/>
                <a:cs typeface="Segoe UI"/>
                <a:ea typeface="Segoe UI"/>
              </a:rPr>
              <a:t>Cost breaks the tie. </a:t>
            </a:r>
            <a:r>
              <a:rPr sz="1350" b="0" i="0">
                <a:solidFill>
                  <a:srgbClr val="1E2A35"/>
                </a:solidFill>
                <a:latin typeface="Segoe UI"/>
                <a:cs typeface="Segoe UI"/>
                <a:ea typeface="Segoe UI"/>
              </a:rPr>
              <a:t>AdamW and Sophia carry two state buffers, SGD and Lion one; step time spans 4× (100 to 383 ms).</a:t>
            </a:r>
          </a:p>
          <a:p>
            <a:pPr marL="237744" indent="-237744">
              <a:lnSpc>
                <a:spcPct val="116000"/>
              </a:lnSpc>
              <a:spcBef>
                <a:spcPts val="900"/>
              </a:spcBef>
              <a:spcAft>
                <a:spcPts val="0"/>
              </a:spcAft>
              <a:buClr>
                <a:srgbClr val="68AEDF"/>
              </a:buClr>
              <a:buSzPct val="90000"/>
              <a:buFont typeface="Arial" pitchFamily="34" charset="0"/>
              <a:buChar char="▪"/>
            </a:pPr>
            <a:r>
              <a:rPr sz="1350" b="1" i="0">
                <a:solidFill>
                  <a:srgbClr val="0E5688"/>
                </a:solidFill>
                <a:latin typeface="Segoe UI"/>
                <a:cs typeface="Segoe UI"/>
                <a:ea typeface="Segoe UI"/>
              </a:rPr>
              <a:t>Speed has no single answer. </a:t>
            </a:r>
            <a:r>
              <a:rPr sz="1350" b="0" i="0">
                <a:solidFill>
                  <a:srgbClr val="1E2A35"/>
                </a:solidFill>
                <a:latin typeface="Segoe UI"/>
                <a:cs typeface="Segoe UI"/>
                <a:ea typeface="Segoe UI"/>
              </a:rPr>
              <a:t>AdamW is fastest per step (400), Lion fastest per second (54 s), so the verdict depends on how the budget is counted.</a:t>
            </a:r>
          </a:p>
        </p:txBody>
      </p:sp>
      <p:pic>
        <p:nvPicPr>
          <p:cNvPr id="12" name="Picture 11" descr="image1.png"/>
          <p:cNvPicPr>
            <a:picLocks noChangeAspect="1"/>
          </p:cNvPicPr>
          <p:nvPr/>
        </p:nvPicPr>
        <p:blipFill>
          <a:blip r:embed="rId3"/>
          <a:stretch>
            <a:fillRect/>
          </a:stretch>
        </p:blipFill>
        <p:spPr>
          <a:xfrm>
            <a:off x="7424419" y="3291840"/>
            <a:ext cx="3868928" cy="248716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RQ1  ·  ROBUSTNESS</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The near-tie belongs to the regime, not the algorithms</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6 / 10</a:t>
            </a:r>
          </a:p>
        </p:txBody>
      </p:sp>
      <p:graphicFrame>
        <p:nvGraphicFramePr>
          <p:cNvPr id="10" name="Table 9"/>
          <p:cNvGraphicFramePr>
            <a:graphicFrameLocks noGrp="1"/>
          </p:cNvGraphicFramePr>
          <p:nvPr/>
        </p:nvGraphicFramePr>
        <p:xfrm>
          <a:off x="658368" y="1444752"/>
          <a:ext cx="6473952" cy="1915668"/>
        </p:xfrm>
        <a:graphic>
          <a:graphicData uri="http://schemas.openxmlformats.org/drawingml/2006/table">
            <a:tbl>
              <a:tblPr firstRow="0" bandRow="0" firstCol="0" bandCol="0" lastRow="0" lastCol="0">
                <a:tableStyleId>{2D5ABB26-0587-4C30-8999-92F81FD0307C}</a:tableStyleId>
              </a:tblPr>
              <a:tblGrid>
                <a:gridCol w="1773936"/>
                <a:gridCol w="932688"/>
                <a:gridCol w="1572768"/>
                <a:gridCol w="1097280"/>
                <a:gridCol w="1097280"/>
              </a:tblGrid>
              <a:tr h="384048">
                <a:tc>
                  <a:txBody>
                    <a:bodyPr wrap="square"/>
                    <a:lstStyle/>
                    <a:p>
                      <a:pPr algn="l">
                        <a:lnSpc>
                          <a:spcPct val="100000"/>
                        </a:lnSpc>
                        <a:spcBef>
                          <a:spcPts val="0"/>
                        </a:spcBef>
                        <a:spcAft>
                          <a:spcPts val="0"/>
                        </a:spcAft>
                        <a:buNone/>
                      </a:pPr>
                      <a:r>
                        <a:rPr sz="1000" b="1" i="0">
                          <a:solidFill>
                            <a:srgbClr val="FFFFFF"/>
                          </a:solidFill>
                          <a:latin typeface="Segoe UI"/>
                          <a:cs typeface="Segoe UI"/>
                          <a:ea typeface="Segoe UI"/>
                        </a:rPr>
                        <a:t>Full fine-tuning (124M)</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00" b="1" i="0">
                          <a:solidFill>
                            <a:srgbClr val="FFFFFF"/>
                          </a:solidFill>
                          <a:latin typeface="Segoe UI"/>
                          <a:cs typeface="Segoe UI"/>
                          <a:ea typeface="Segoe UI"/>
                        </a:rPr>
                        <a:t>Best LR</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00" b="1" i="0">
                          <a:solidFill>
                            <a:srgbClr val="FFFFFF"/>
                          </a:solidFill>
                          <a:latin typeface="Segoe UI"/>
                          <a:cs typeface="Segoe UI"/>
                          <a:ea typeface="Segoe UI"/>
                        </a:rPr>
                        <a:t>Val loss</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00" b="1" i="0">
                          <a:solidFill>
                            <a:srgbClr val="FFFFFF"/>
                          </a:solidFill>
                          <a:latin typeface="Segoe UI"/>
                          <a:cs typeface="Segoe UI"/>
                          <a:ea typeface="Segoe UI"/>
                        </a:rPr>
                        <a:t>Steps → 3.26</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00" b="1" i="0">
                          <a:solidFill>
                            <a:srgbClr val="FFFFFF"/>
                          </a:solidFill>
                          <a:latin typeface="Segoe UI"/>
                          <a:cs typeface="Segoe UI"/>
                          <a:ea typeface="Segoe UI"/>
                        </a:rPr>
                        <a:t>Step (ms)</a:t>
                      </a:r>
                    </a:p>
                  </a:txBody>
                  <a:tcPr marL="91440" marR="91440" marT="18288" marB="18288" anchor="ctr">
                    <a:solidFill>
                      <a:srgbClr val="0E5688"/>
                    </a:solidFill>
                  </a:tcPr>
                </a:tc>
              </a:tr>
              <a:tr h="306324">
                <a:tc>
                  <a:txBody>
                    <a:bodyPr wrap="square"/>
                    <a:lstStyle/>
                    <a:p>
                      <a:pPr algn="l">
                        <a:lnSpc>
                          <a:spcPct val="100000"/>
                        </a:lnSpc>
                        <a:spcBef>
                          <a:spcPts val="0"/>
                        </a:spcBef>
                        <a:spcAft>
                          <a:spcPts val="0"/>
                        </a:spcAft>
                        <a:buNone/>
                      </a:pPr>
                      <a:r>
                        <a:rPr sz="1120" b="1" i="0">
                          <a:solidFill>
                            <a:srgbClr val="0E5688"/>
                          </a:solidFill>
                          <a:latin typeface="Segoe UI"/>
                          <a:cs typeface="Segoe UI"/>
                          <a:ea typeface="Segoe UI"/>
                        </a:rPr>
                        <a:t>SGD + momentum</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20" b="1" i="0">
                          <a:solidFill>
                            <a:srgbClr val="0E5688"/>
                          </a:solidFill>
                          <a:latin typeface="Segoe UI"/>
                          <a:cs typeface="Segoe UI"/>
                          <a:ea typeface="Segoe UI"/>
                        </a:rPr>
                        <a:t>1.2e-1</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20" b="1" i="0">
                          <a:solidFill>
                            <a:srgbClr val="0E5688"/>
                          </a:solidFill>
                          <a:latin typeface="Segoe UI"/>
                          <a:cs typeface="Segoe UI"/>
                          <a:ea typeface="Segoe UI"/>
                        </a:rPr>
                        <a:t>3.1794 ± 0.0027</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20" b="1" i="0">
                          <a:solidFill>
                            <a:srgbClr val="0E5688"/>
                          </a:solidFill>
                          <a:latin typeface="Segoe UI"/>
                          <a:cs typeface="Segoe UI"/>
                          <a:ea typeface="Segoe UI"/>
                        </a:rPr>
                        <a:t>200</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20" b="1" i="0">
                          <a:solidFill>
                            <a:srgbClr val="0E5688"/>
                          </a:solidFill>
                          <a:latin typeface="Segoe UI"/>
                          <a:cs typeface="Segoe UI"/>
                          <a:ea typeface="Segoe UI"/>
                        </a:rPr>
                        <a:t>128</a:t>
                      </a:r>
                    </a:p>
                  </a:txBody>
                  <a:tcPr marL="91440" marR="91440" marT="18288" marB="18288" anchor="ctr">
                    <a:solidFill>
                      <a:srgbClr val="E2EEF9"/>
                    </a:solidFill>
                  </a:tcPr>
                </a:tc>
              </a:tr>
              <a:tr h="306324">
                <a:tc>
                  <a:txBody>
                    <a:bodyPr wrap="square"/>
                    <a:lstStyle/>
                    <a:p>
                      <a:pPr algn="l">
                        <a:lnSpc>
                          <a:spcPct val="100000"/>
                        </a:lnSpc>
                        <a:spcBef>
                          <a:spcPts val="0"/>
                        </a:spcBef>
                        <a:spcAft>
                          <a:spcPts val="0"/>
                        </a:spcAft>
                        <a:buNone/>
                      </a:pPr>
                      <a:r>
                        <a:rPr sz="1120" b="1" i="0">
                          <a:solidFill>
                            <a:srgbClr val="1E2A35"/>
                          </a:solidFill>
                          <a:latin typeface="Segoe UI"/>
                          <a:cs typeface="Segoe UI"/>
                          <a:ea typeface="Segoe UI"/>
                        </a:rPr>
                        <a:t>Sophia</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1.0e-5</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3.2053 ± 0.0018</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200</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142</a:t>
                      </a:r>
                    </a:p>
                  </a:txBody>
                  <a:tcPr marL="91440" marR="91440" marT="18288" marB="18288" anchor="ctr">
                    <a:solidFill>
                      <a:srgbClr val="FFFFFF"/>
                    </a:solidFill>
                  </a:tcPr>
                </a:tc>
              </a:tr>
              <a:tr h="306324">
                <a:tc>
                  <a:txBody>
                    <a:bodyPr wrap="square"/>
                    <a:lstStyle/>
                    <a:p>
                      <a:pPr algn="l">
                        <a:lnSpc>
                          <a:spcPct val="100000"/>
                        </a:lnSpc>
                        <a:spcBef>
                          <a:spcPts val="0"/>
                        </a:spcBef>
                        <a:spcAft>
                          <a:spcPts val="0"/>
                        </a:spcAft>
                        <a:buNone/>
                      </a:pPr>
                      <a:r>
                        <a:rPr sz="1120" b="1" i="0">
                          <a:solidFill>
                            <a:srgbClr val="1E2A35"/>
                          </a:solidFill>
                          <a:latin typeface="Segoe UI"/>
                          <a:cs typeface="Segoe UI"/>
                          <a:ea typeface="Segoe UI"/>
                        </a:rPr>
                        <a:t>Lion</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6.5e-6</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3.2135 ± 0.0021</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200</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136</a:t>
                      </a:r>
                    </a:p>
                  </a:txBody>
                  <a:tcPr marL="91440" marR="91440" marT="18288" marB="18288" anchor="ctr">
                    <a:solidFill>
                      <a:srgbClr val="EFF6FC"/>
                    </a:solidFill>
                  </a:tcPr>
                </a:tc>
              </a:tr>
              <a:tr h="306324">
                <a:tc>
                  <a:txBody>
                    <a:bodyPr wrap="square"/>
                    <a:lstStyle/>
                    <a:p>
                      <a:pPr algn="l">
                        <a:lnSpc>
                          <a:spcPct val="100000"/>
                        </a:lnSpc>
                        <a:spcBef>
                          <a:spcPts val="0"/>
                        </a:spcBef>
                        <a:spcAft>
                          <a:spcPts val="0"/>
                        </a:spcAft>
                        <a:buNone/>
                      </a:pPr>
                      <a:r>
                        <a:rPr sz="1120" b="1" i="0">
                          <a:solidFill>
                            <a:srgbClr val="1E2A35"/>
                          </a:solidFill>
                          <a:latin typeface="Segoe UI"/>
                          <a:cs typeface="Segoe UI"/>
                          <a:ea typeface="Segoe UI"/>
                        </a:rPr>
                        <a:t>AdamW</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2.2e-5</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3.2202 ± 0.0036</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200</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141</a:t>
                      </a:r>
                    </a:p>
                  </a:txBody>
                  <a:tcPr marL="91440" marR="91440" marT="18288" marB="18288" anchor="ctr">
                    <a:solidFill>
                      <a:srgbClr val="FFFFFF"/>
                    </a:solidFill>
                  </a:tcPr>
                </a:tc>
              </a:tr>
              <a:tr h="306324">
                <a:tc>
                  <a:txBody>
                    <a:bodyPr wrap="square"/>
                    <a:lstStyle/>
                    <a:p>
                      <a:pPr algn="l">
                        <a:lnSpc>
                          <a:spcPct val="100000"/>
                        </a:lnSpc>
                        <a:spcBef>
                          <a:spcPts val="0"/>
                        </a:spcBef>
                        <a:spcAft>
                          <a:spcPts val="0"/>
                        </a:spcAft>
                        <a:buNone/>
                      </a:pPr>
                      <a:r>
                        <a:rPr sz="1120" b="1" i="0">
                          <a:solidFill>
                            <a:srgbClr val="1E2A35"/>
                          </a:solidFill>
                          <a:latin typeface="Segoe UI"/>
                          <a:cs typeface="Segoe UI"/>
                          <a:ea typeface="Segoe UI"/>
                        </a:rPr>
                        <a:t>Muon</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2.2e-3</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3.2535 ± 0.0074</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100  (4/5)</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20" b="0" i="0">
                          <a:solidFill>
                            <a:srgbClr val="1E2A35"/>
                          </a:solidFill>
                          <a:latin typeface="Segoe UI"/>
                          <a:cs typeface="Segoe UI"/>
                          <a:ea typeface="Segoe UI"/>
                        </a:rPr>
                        <a:t>266</a:t>
                      </a:r>
                    </a:p>
                  </a:txBody>
                  <a:tcPr marL="91440" marR="91440" marT="18288" marB="18288" anchor="ctr">
                    <a:solidFill>
                      <a:srgbClr val="EFF6FC"/>
                    </a:solidFill>
                  </a:tcPr>
                </a:tc>
              </a:tr>
            </a:tbl>
          </a:graphicData>
        </a:graphic>
      </p:graphicFrame>
      <p:sp>
        <p:nvSpPr>
          <p:cNvPr id="11" name="TextBox 10"/>
          <p:cNvSpPr txBox="1"/>
          <p:nvPr/>
        </p:nvSpPr>
        <p:spPr>
          <a:xfrm>
            <a:off x="7333488" y="1481328"/>
            <a:ext cx="4197096" cy="2377440"/>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Spread widens 6× </a:t>
            </a:r>
            <a:r>
              <a:rPr sz="1250" b="0" i="0">
                <a:solidFill>
                  <a:srgbClr val="1E2A35"/>
                </a:solidFill>
                <a:latin typeface="Segoe UI"/>
                <a:cs typeface="Segoe UI"/>
                <a:ea typeface="Segoe UI"/>
              </a:rPr>
              <a:t>(0.012 to 0.072) and the ranking inverts.</a:t>
            </a:r>
          </a:p>
          <a:p>
            <a:pPr marL="237744" indent="-237744">
              <a:lnSpc>
                <a:spcPct val="116000"/>
              </a:lnSpc>
              <a:spcBef>
                <a:spcPts val="80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Well-tuned SGD is now clearly first </a:t>
            </a:r>
            <a:r>
              <a:rPr sz="1250" b="0" i="0">
                <a:solidFill>
                  <a:srgbClr val="1E2A35"/>
                </a:solidFill>
                <a:latin typeface="Segoe UI"/>
                <a:cs typeface="Segoe UI"/>
                <a:ea typeface="Segoe UI"/>
              </a:rPr>
              <a:t>, with every seed below every seed of every other optimizer; AdamW drops to fourth.</a:t>
            </a:r>
          </a:p>
          <a:p>
            <a:pPr marL="237744" indent="-237744">
              <a:lnSpc>
                <a:spcPct val="116000"/>
              </a:lnSpc>
              <a:spcBef>
                <a:spcPts val="80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Muon </a:t>
            </a:r>
            <a:r>
              <a:rPr sz="1250" b="0" i="0">
                <a:solidFill>
                  <a:srgbClr val="1E2A35"/>
                </a:solidFill>
                <a:latin typeface="Segoe UI"/>
                <a:cs typeface="Segoe UI"/>
                <a:ea typeface="Segoe UI"/>
              </a:rPr>
              <a:t>reaches the target in half the steps, but its Newton–Schulz step costs 2×, so the advantage cancels in wall-clock, and it ends last on quality.</a:t>
            </a:r>
          </a:p>
        </p:txBody>
      </p:sp>
      <p:sp>
        <p:nvSpPr>
          <p:cNvPr id="12" name="TextBox 11"/>
          <p:cNvSpPr txBox="1"/>
          <p:nvPr/>
        </p:nvSpPr>
        <p:spPr>
          <a:xfrm>
            <a:off x="658368" y="3675887"/>
            <a:ext cx="7315200" cy="274320"/>
          </a:xfrm>
          <a:prstGeom prst="rect">
            <a:avLst/>
          </a:prstGeom>
          <a:noFill/>
        </p:spPr>
        <p:txBody>
          <a:bodyPr wrap="square" anchor="t" lIns="0" rIns="0" tIns="0" bIns="0">
            <a:noAutofit/>
          </a:bodyPr>
          <a:lstStyle/>
          <a:p>
            <a:pPr>
              <a:lnSpc>
                <a:spcPct val="100000"/>
              </a:lnSpc>
              <a:spcBef>
                <a:spcPts val="0"/>
              </a:spcBef>
              <a:spcAft>
                <a:spcPts val="0"/>
              </a:spcAft>
              <a:buNone/>
            </a:pPr>
            <a:r>
              <a:rPr sz="1300" b="1" i="0">
                <a:solidFill>
                  <a:srgbClr val="0E5688"/>
                </a:solidFill>
                <a:latin typeface="Segoe UI"/>
                <a:cs typeface="Segoe UI"/>
                <a:ea typeface="Segoe UI"/>
              </a:rPr>
              <a:t>Second model: SmolLM2-360M (LoRA, 3 seeds)</a:t>
            </a:r>
          </a:p>
        </p:txBody>
      </p:sp>
      <p:sp>
        <p:nvSpPr>
          <p:cNvPr id="13" name="TextBox 12"/>
          <p:cNvSpPr txBox="1"/>
          <p:nvPr/>
        </p:nvSpPr>
        <p:spPr>
          <a:xfrm>
            <a:off x="658368" y="4023360"/>
            <a:ext cx="10874959" cy="1097280"/>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What transfers: </a:t>
            </a:r>
            <a:r>
              <a:rPr sz="1250" b="0" i="0">
                <a:solidFill>
                  <a:srgbClr val="1E2A35"/>
                </a:solidFill>
                <a:latin typeface="Segoe UI"/>
                <a:cs typeface="Segoe UI"/>
                <a:ea typeface="Segoe UI"/>
              </a:rPr>
              <a:t>AdamW is again first (2.4370) and the tunability fragilities recur on a different architecture.</a:t>
            </a:r>
          </a:p>
          <a:p>
            <a:pPr marL="237744" indent="-237744">
              <a:lnSpc>
                <a:spcPct val="116000"/>
              </a:lnSpc>
              <a:spcBef>
                <a:spcPts val="80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What does not: </a:t>
            </a:r>
            <a:r>
              <a:rPr sz="1250" b="0" i="0">
                <a:solidFill>
                  <a:srgbClr val="1E2A35"/>
                </a:solidFill>
                <a:latin typeface="Segoe UI"/>
                <a:cs typeface="Segoe UI"/>
                <a:ea typeface="Segoe UI"/>
              </a:rPr>
              <a:t>SGD falls from a near-tie to clearly last (2.4767), trailing the adaptive trio by 0.03–0.04.</a:t>
            </a:r>
          </a:p>
        </p:txBody>
      </p:sp>
      <p:sp>
        <p:nvSpPr>
          <p:cNvPr id="14" name="Rectangle 13"/>
          <p:cNvSpPr/>
          <p:nvPr/>
        </p:nvSpPr>
        <p:spPr>
          <a:xfrm>
            <a:off x="658368" y="5010912"/>
            <a:ext cx="10874959" cy="896112"/>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5010912"/>
            <a:ext cx="68580" cy="896112"/>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69264" y="5020056"/>
            <a:ext cx="10308031" cy="877824"/>
          </a:xfrm>
          <a:prstGeom prst="rect">
            <a:avLst/>
          </a:prstGeom>
          <a:noFill/>
        </p:spPr>
        <p:txBody>
          <a:bodyPr wrap="square" anchor="ctr" lIns="0" rIns="0" tIns="0" bIns="0">
            <a:noAutofit/>
          </a:bodyPr>
          <a:lstStyle/>
          <a:p>
            <a:pPr>
              <a:lnSpc>
                <a:spcPct val="115000"/>
              </a:lnSpc>
              <a:spcBef>
                <a:spcPts val="0"/>
              </a:spcBef>
              <a:spcAft>
                <a:spcPts val="0"/>
              </a:spcAft>
              <a:buNone/>
            </a:pPr>
            <a:r>
              <a:rPr sz="1350" b="1" i="0">
                <a:solidFill>
                  <a:srgbClr val="0E5688"/>
                </a:solidFill>
                <a:latin typeface="Segoe UI"/>
                <a:cs typeface="Segoe UI"/>
                <a:ea typeface="Segoe UI"/>
              </a:rPr>
              <a:t>“Best optimizer” is a property of the (optimizer, regime) pair. A single-regime study would have reported either result as the ranking.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RQ2  ·  TUNABILITY</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Where the optimizers genuinely differ</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7 / 10</a:t>
            </a:r>
          </a:p>
        </p:txBody>
      </p:sp>
      <p:pic>
        <p:nvPicPr>
          <p:cNvPr id="10" name="Picture 9" descr="image2.png"/>
          <p:cNvPicPr>
            <a:picLocks noChangeAspect="1"/>
          </p:cNvPicPr>
          <p:nvPr/>
        </p:nvPicPr>
        <p:blipFill>
          <a:blip r:embed="rId3"/>
          <a:stretch>
            <a:fillRect/>
          </a:stretch>
        </p:blipFill>
        <p:spPr>
          <a:xfrm>
            <a:off x="658368" y="1427035"/>
            <a:ext cx="8092440" cy="3034665"/>
          </a:xfrm>
          <a:prstGeom prst="rect">
            <a:avLst/>
          </a:prstGeom>
        </p:spPr>
      </p:pic>
      <p:sp>
        <p:nvSpPr>
          <p:cNvPr id="11" name="TextBox 10"/>
          <p:cNvSpPr txBox="1"/>
          <p:nvPr/>
        </p:nvSpPr>
        <p:spPr>
          <a:xfrm>
            <a:off x="658368" y="4517136"/>
            <a:ext cx="8092440" cy="384048"/>
          </a:xfrm>
          <a:prstGeom prst="rect">
            <a:avLst/>
          </a:prstGeom>
          <a:noFill/>
        </p:spPr>
        <p:txBody>
          <a:bodyPr wrap="square" anchor="t" lIns="0" rIns="0" tIns="0" bIns="0">
            <a:noAutofit/>
          </a:bodyPr>
          <a:lstStyle/>
          <a:p>
            <a:pPr algn="ctr">
              <a:lnSpc>
                <a:spcPct val="110000"/>
              </a:lnSpc>
              <a:spcBef>
                <a:spcPts val="0"/>
              </a:spcBef>
              <a:spcAft>
                <a:spcPts val="0"/>
              </a:spcAft>
              <a:buNone/>
            </a:pPr>
            <a:r>
              <a:rPr sz="1050" b="0" i="1">
                <a:solidFill>
                  <a:srgbClr val="5C6B78"/>
                </a:solidFill>
                <a:latin typeface="Segoe UI"/>
                <a:cs typeface="Segoe UI"/>
                <a:ea typeface="Segoe UI"/>
              </a:rPr>
              <a:t>Best validation loss vs learning rate (GPT-2 + LoRA, 18 points per optimizer). Right: zoom near the optima.</a:t>
            </a:r>
          </a:p>
        </p:txBody>
      </p:sp>
      <p:sp>
        <p:nvSpPr>
          <p:cNvPr id="12" name="TextBox 11"/>
          <p:cNvSpPr txBox="1"/>
          <p:nvPr/>
        </p:nvSpPr>
        <p:spPr>
          <a:xfrm>
            <a:off x="658368" y="4846320"/>
            <a:ext cx="10874959" cy="1371600"/>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Optima span three orders of magnitude </a:t>
            </a:r>
            <a:r>
              <a:rPr sz="1250" b="0" i="0">
                <a:solidFill>
                  <a:srgbClr val="1E2A35"/>
                </a:solidFill>
                <a:latin typeface="Segoe UI"/>
                <a:cs typeface="Segoe UI"/>
                <a:ea typeface="Segoe UI"/>
              </a:rPr>
              <a:t>: 0.44 for SGD against 6e-4 to 3e-3 for the Adam family, which is why per-optimizer ranges are the fair choice.</a:t>
            </a:r>
          </a:p>
          <a:p>
            <a:pPr marL="237744" indent="-237744">
              <a:lnSpc>
                <a:spcPct val="116000"/>
              </a:lnSpc>
              <a:spcBef>
                <a:spcPts val="70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AdamW is the most forgiving </a:t>
            </a:r>
            <a:r>
              <a:rPr sz="1250" b="0" i="0">
                <a:solidFill>
                  <a:srgbClr val="1E2A35"/>
                </a:solidFill>
                <a:latin typeface="Segoe UI"/>
                <a:cs typeface="Segoe UI"/>
                <a:ea typeface="Segoe UI"/>
              </a:rPr>
              <a:t>(within 0.01 of optimal across the whole decade 1e-3 to 1e-2); Lion’s basin is narrower; Sophia is the most fragile, jumping from 3.18 to 11.55 above its threshold.</a:t>
            </a:r>
          </a:p>
          <a:p>
            <a:pPr marL="237744" indent="-237744">
              <a:lnSpc>
                <a:spcPct val="116000"/>
              </a:lnSpc>
              <a:spcBef>
                <a:spcPts val="700"/>
              </a:spcBef>
              <a:spcAft>
                <a:spcPts val="0"/>
              </a:spcAft>
              <a:buClr>
                <a:srgbClr val="68AEDF"/>
              </a:buClr>
              <a:buSzPct val="90000"/>
              <a:buFont typeface="Arial" pitchFamily="34" charset="0"/>
              <a:buChar char="▪"/>
            </a:pPr>
            <a:r>
              <a:rPr sz="1250" b="1" i="0">
                <a:solidFill>
                  <a:srgbClr val="0E5688"/>
                </a:solidFill>
                <a:latin typeface="Segoe UI"/>
                <a:cs typeface="Segoe UI"/>
                <a:ea typeface="Segoe UI"/>
              </a:rPr>
              <a:t>Two-dimensional check: </a:t>
            </a:r>
            <a:r>
              <a:rPr sz="1250" b="0" i="0">
                <a:solidFill>
                  <a:srgbClr val="1E2A35"/>
                </a:solidFill>
                <a:latin typeface="Segoe UI"/>
                <a:cs typeface="Segoe UI"/>
                <a:ea typeface="Segoe UI"/>
              </a:rPr>
              <a:t>AdamW’s valley is essentially 1-D in the learning rate, but SGD’s learning rate and momentum form a diagonal ridge, so whether one axis suffices is itself optimizer-specific.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RQ3  ·  GEOMETRY</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Naive visualization misleads; curvature explains part of it</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8 / 10</a:t>
            </a:r>
          </a:p>
        </p:txBody>
      </p:sp>
      <p:sp>
        <p:nvSpPr>
          <p:cNvPr id="10" name="TextBox 9"/>
          <p:cNvSpPr txBox="1"/>
          <p:nvPr/>
        </p:nvSpPr>
        <p:spPr>
          <a:xfrm>
            <a:off x="658368" y="1463040"/>
            <a:ext cx="5358384" cy="256032"/>
          </a:xfrm>
          <a:prstGeom prst="rect">
            <a:avLst/>
          </a:prstGeom>
          <a:noFill/>
        </p:spPr>
        <p:txBody>
          <a:bodyPr wrap="square" anchor="t" lIns="0" rIns="0" tIns="0" bIns="0">
            <a:noAutofit/>
          </a:bodyPr>
          <a:lstStyle/>
          <a:p>
            <a:pPr>
              <a:lnSpc>
                <a:spcPct val="100000"/>
              </a:lnSpc>
              <a:spcBef>
                <a:spcPts val="0"/>
              </a:spcBef>
              <a:spcAft>
                <a:spcPts val="0"/>
              </a:spcAft>
              <a:buNone/>
            </a:pPr>
            <a:r>
              <a:rPr sz="1350" b="1" i="0">
                <a:solidFill>
                  <a:srgbClr val="0E5688"/>
                </a:solidFill>
                <a:latin typeface="Segoe UI"/>
                <a:cs typeface="Segoe UI"/>
                <a:ea typeface="Segoe UI"/>
              </a:rPr>
              <a:t>Visualization: the same minimum, twice</a:t>
            </a:r>
          </a:p>
        </p:txBody>
      </p:sp>
      <p:pic>
        <p:nvPicPr>
          <p:cNvPr id="11" name="Picture 10" descr="image8_crop.png"/>
          <p:cNvPicPr>
            <a:picLocks noChangeAspect="1"/>
          </p:cNvPicPr>
          <p:nvPr/>
        </p:nvPicPr>
        <p:blipFill>
          <a:blip r:embed="rId3"/>
          <a:stretch>
            <a:fillRect/>
          </a:stretch>
        </p:blipFill>
        <p:spPr>
          <a:xfrm>
            <a:off x="658368" y="1805073"/>
            <a:ext cx="5358384" cy="2187148"/>
          </a:xfrm>
          <a:prstGeom prst="rect">
            <a:avLst/>
          </a:prstGeom>
        </p:spPr>
      </p:pic>
      <p:sp>
        <p:nvSpPr>
          <p:cNvPr id="12" name="TextBox 11"/>
          <p:cNvSpPr txBox="1"/>
          <p:nvPr/>
        </p:nvSpPr>
        <p:spPr>
          <a:xfrm>
            <a:off x="658368" y="4224528"/>
            <a:ext cx="5358384" cy="1920240"/>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200" b="1" i="0">
                <a:solidFill>
                  <a:srgbClr val="0E5688"/>
                </a:solidFill>
                <a:latin typeface="Segoe UI"/>
                <a:cs typeface="Segoe UI"/>
                <a:ea typeface="Segoe UI"/>
              </a:rPr>
              <a:t>Same solution, same step size. </a:t>
            </a:r>
            <a:r>
              <a:rPr sz="1200" b="0" i="0">
                <a:solidFill>
                  <a:srgbClr val="1E2A35"/>
                </a:solidFill>
                <a:latin typeface="Segoe UI"/>
                <a:cs typeface="Segoe UI"/>
                <a:ea typeface="Segoe UI"/>
              </a:rPr>
              <a:t>Naive global normalization drives the edge loss to ≈ 5.3 where filter normalization reaches ≈ 1.9, so apparent sharpness is an artefact of direction scaling.</a:t>
            </a:r>
          </a:p>
          <a:p>
            <a:pPr marL="237744" indent="-237744">
              <a:lnSpc>
                <a:spcPct val="116000"/>
              </a:lnSpc>
              <a:spcBef>
                <a:spcPts val="800"/>
              </a:spcBef>
              <a:spcAft>
                <a:spcPts val="0"/>
              </a:spcAft>
              <a:buClr>
                <a:srgbClr val="68AEDF"/>
              </a:buClr>
              <a:buSzPct val="90000"/>
              <a:buFont typeface="Arial" pitchFamily="34" charset="0"/>
              <a:buChar char="▪"/>
            </a:pPr>
            <a:r>
              <a:rPr sz="1200" b="1" i="0">
                <a:solidFill>
                  <a:srgbClr val="0E5688"/>
                </a:solidFill>
                <a:latin typeface="Segoe UI"/>
                <a:cs typeface="Segoe UI"/>
                <a:ea typeface="Segoe UI"/>
              </a:rPr>
              <a:t>Interpolating AdamW → SGD </a:t>
            </a:r>
            <a:r>
              <a:rPr sz="1200" b="0" i="0">
                <a:solidFill>
                  <a:srgbClr val="1E2A35"/>
                </a:solidFill>
                <a:latin typeface="Segoe UI"/>
                <a:cs typeface="Segoe UI"/>
                <a:ea typeface="Segoe UI"/>
              </a:rPr>
              <a:t>shows a loss barrier (0.011 at both ends, 0.027 at the midpoint): different basins, not linearly connected.</a:t>
            </a:r>
          </a:p>
        </p:txBody>
      </p:sp>
      <p:sp>
        <p:nvSpPr>
          <p:cNvPr id="13" name="TextBox 12"/>
          <p:cNvSpPr txBox="1"/>
          <p:nvPr/>
        </p:nvSpPr>
        <p:spPr>
          <a:xfrm>
            <a:off x="6446520" y="1463040"/>
            <a:ext cx="5084064" cy="256032"/>
          </a:xfrm>
          <a:prstGeom prst="rect">
            <a:avLst/>
          </a:prstGeom>
          <a:noFill/>
        </p:spPr>
        <p:txBody>
          <a:bodyPr wrap="square" anchor="t" lIns="0" rIns="0" tIns="0" bIns="0">
            <a:noAutofit/>
          </a:bodyPr>
          <a:lstStyle/>
          <a:p>
            <a:pPr>
              <a:lnSpc>
                <a:spcPct val="100000"/>
              </a:lnSpc>
              <a:spcBef>
                <a:spcPts val="0"/>
              </a:spcBef>
              <a:spcAft>
                <a:spcPts val="0"/>
              </a:spcAft>
              <a:buNone/>
            </a:pPr>
            <a:r>
              <a:rPr sz="1350" b="1" i="0">
                <a:solidFill>
                  <a:srgbClr val="0E5688"/>
                </a:solidFill>
                <a:latin typeface="Segoe UI"/>
                <a:cs typeface="Segoe UI"/>
                <a:ea typeface="Segoe UI"/>
              </a:rPr>
              <a:t>Curvature: top Hessian eigenvalue λₘₐₓ</a:t>
            </a:r>
          </a:p>
        </p:txBody>
      </p:sp>
      <p:graphicFrame>
        <p:nvGraphicFramePr>
          <p:cNvPr id="14" name="Table 13"/>
          <p:cNvGraphicFramePr>
            <a:graphicFrameLocks noGrp="1"/>
          </p:cNvGraphicFramePr>
          <p:nvPr/>
        </p:nvGraphicFramePr>
        <p:xfrm>
          <a:off x="6446520" y="1773936"/>
          <a:ext cx="5084064" cy="1591056"/>
        </p:xfrm>
        <a:graphic>
          <a:graphicData uri="http://schemas.openxmlformats.org/drawingml/2006/table">
            <a:tbl>
              <a:tblPr firstRow="0" bandRow="0" firstCol="0" bandCol="0" lastRow="0" lastCol="0">
                <a:tableStyleId>{2D5ABB26-0587-4C30-8999-92F81FD0307C}</a:tableStyleId>
              </a:tblPr>
              <a:tblGrid>
                <a:gridCol w="1572768"/>
                <a:gridCol w="859536"/>
                <a:gridCol w="2651760"/>
              </a:tblGrid>
              <a:tr h="365760">
                <a:tc>
                  <a:txBody>
                    <a:bodyPr wrap="square"/>
                    <a:lstStyle/>
                    <a:p>
                      <a:pPr algn="l">
                        <a:lnSpc>
                          <a:spcPct val="100000"/>
                        </a:lnSpc>
                        <a:spcBef>
                          <a:spcPts val="0"/>
                        </a:spcBef>
                        <a:spcAft>
                          <a:spcPts val="0"/>
                        </a:spcAft>
                        <a:buNone/>
                      </a:pPr>
                      <a:r>
                        <a:rPr sz="1050" b="1" i="0">
                          <a:solidFill>
                            <a:srgbClr val="FFFFFF"/>
                          </a:solidFill>
                          <a:latin typeface="Segoe UI"/>
                          <a:cs typeface="Segoe UI"/>
                          <a:ea typeface="Segoe UI"/>
                        </a:rPr>
                        <a:t>Optimizer</a:t>
                      </a:r>
                    </a:p>
                  </a:txBody>
                  <a:tcPr marL="91440" marR="91440" marT="18288" marB="18288" anchor="ctr">
                    <a:solidFill>
                      <a:srgbClr val="0E5688"/>
                    </a:solidFill>
                  </a:tcPr>
                </a:tc>
                <a:tc>
                  <a:txBody>
                    <a:bodyPr wrap="square"/>
                    <a:lstStyle/>
                    <a:p>
                      <a:pPr algn="ctr">
                        <a:lnSpc>
                          <a:spcPct val="100000"/>
                        </a:lnSpc>
                        <a:spcBef>
                          <a:spcPts val="0"/>
                        </a:spcBef>
                        <a:spcAft>
                          <a:spcPts val="0"/>
                        </a:spcAft>
                        <a:buNone/>
                      </a:pPr>
                      <a:r>
                        <a:rPr sz="1050" b="1" i="0">
                          <a:solidFill>
                            <a:srgbClr val="FFFFFF"/>
                          </a:solidFill>
                          <a:latin typeface="Segoe UI"/>
                          <a:cs typeface="Segoe UI"/>
                          <a:ea typeface="Segoe UI"/>
                        </a:rPr>
                        <a:t>λₘₐₓ</a:t>
                      </a:r>
                    </a:p>
                  </a:txBody>
                  <a:tcPr marL="91440" marR="91440" marT="18288" marB="18288" anchor="ctr">
                    <a:solidFill>
                      <a:srgbClr val="0E5688"/>
                    </a:solidFill>
                  </a:tcPr>
                </a:tc>
                <a:tc>
                  <a:txBody>
                    <a:bodyPr wrap="square"/>
                    <a:lstStyle/>
                    <a:p>
                      <a:pPr algn="l">
                        <a:lnSpc>
                          <a:spcPct val="100000"/>
                        </a:lnSpc>
                        <a:spcBef>
                          <a:spcPts val="0"/>
                        </a:spcBef>
                        <a:spcAft>
                          <a:spcPts val="0"/>
                        </a:spcAft>
                        <a:buNone/>
                      </a:pPr>
                      <a:r>
                        <a:rPr sz="1050" b="1" i="0">
                          <a:solidFill>
                            <a:srgbClr val="FFFFFF"/>
                          </a:solidFill>
                          <a:latin typeface="Segoe UI"/>
                          <a:cs typeface="Segoe UI"/>
                          <a:ea typeface="Segoe UI"/>
                        </a:rPr>
                        <a:t>Tunability (RQ2)</a:t>
                      </a:r>
                    </a:p>
                  </a:txBody>
                  <a:tcPr marL="91440" marR="91440" marT="18288" marB="18288" anchor="ctr">
                    <a:solidFill>
                      <a:srgbClr val="0E5688"/>
                    </a:solidFill>
                  </a:tcPr>
                </a:tc>
              </a:tr>
              <a:tr h="306324">
                <a:tc>
                  <a:txBody>
                    <a:bodyPr wrap="square"/>
                    <a:lstStyle/>
                    <a:p>
                      <a:pPr algn="l">
                        <a:lnSpc>
                          <a:spcPct val="100000"/>
                        </a:lnSpc>
                        <a:spcBef>
                          <a:spcPts val="0"/>
                        </a:spcBef>
                        <a:spcAft>
                          <a:spcPts val="0"/>
                        </a:spcAft>
                        <a:buNone/>
                      </a:pPr>
                      <a:r>
                        <a:rPr sz="1150" b="1" i="0">
                          <a:solidFill>
                            <a:srgbClr val="1E2A35"/>
                          </a:solidFill>
                          <a:latin typeface="Segoe UI"/>
                          <a:cs typeface="Segoe UI"/>
                          <a:ea typeface="Segoe UI"/>
                        </a:rPr>
                        <a:t>AdamW</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50" b="0" i="0">
                          <a:solidFill>
                            <a:srgbClr val="1E2A35"/>
                          </a:solidFill>
                          <a:latin typeface="Segoe UI"/>
                          <a:cs typeface="Segoe UI"/>
                          <a:ea typeface="Segoe UI"/>
                        </a:rPr>
                        <a:t>1.41</a:t>
                      </a:r>
                    </a:p>
                  </a:txBody>
                  <a:tcPr marL="91440" marR="91440" marT="18288" marB="18288" anchor="ctr">
                    <a:solidFill>
                      <a:srgbClr val="EFF6FC"/>
                    </a:solidFill>
                  </a:tcPr>
                </a:tc>
                <a:tc>
                  <a:txBody>
                    <a:bodyPr wrap="square"/>
                    <a:lstStyle/>
                    <a:p>
                      <a:pPr algn="l">
                        <a:lnSpc>
                          <a:spcPct val="100000"/>
                        </a:lnSpc>
                        <a:spcBef>
                          <a:spcPts val="0"/>
                        </a:spcBef>
                        <a:spcAft>
                          <a:spcPts val="0"/>
                        </a:spcAft>
                        <a:buNone/>
                      </a:pPr>
                      <a:r>
                        <a:rPr sz="1150" b="0" i="0">
                          <a:solidFill>
                            <a:srgbClr val="1E2A35"/>
                          </a:solidFill>
                          <a:latin typeface="Segoe UI"/>
                          <a:cs typeface="Segoe UI"/>
                          <a:ea typeface="Segoe UI"/>
                        </a:rPr>
                        <a:t>broadest, most forgiving</a:t>
                      </a:r>
                    </a:p>
                  </a:txBody>
                  <a:tcPr marL="91440" marR="91440" marT="18288" marB="18288" anchor="ctr">
                    <a:solidFill>
                      <a:srgbClr val="EFF6FC"/>
                    </a:solidFill>
                  </a:tcPr>
                </a:tc>
              </a:tr>
              <a:tr h="306324">
                <a:tc>
                  <a:txBody>
                    <a:bodyPr wrap="square"/>
                    <a:lstStyle/>
                    <a:p>
                      <a:pPr algn="l">
                        <a:lnSpc>
                          <a:spcPct val="100000"/>
                        </a:lnSpc>
                        <a:spcBef>
                          <a:spcPts val="0"/>
                        </a:spcBef>
                        <a:spcAft>
                          <a:spcPts val="0"/>
                        </a:spcAft>
                        <a:buNone/>
                      </a:pPr>
                      <a:r>
                        <a:rPr sz="1150" b="1" i="0">
                          <a:solidFill>
                            <a:srgbClr val="1E2A35"/>
                          </a:solidFill>
                          <a:latin typeface="Segoe UI"/>
                          <a:cs typeface="Segoe UI"/>
                          <a:ea typeface="Segoe UI"/>
                        </a:rPr>
                        <a:t>SGD + momentum</a:t>
                      </a:r>
                    </a:p>
                  </a:txBody>
                  <a:tcPr marL="91440" marR="91440" marT="18288" marB="18288" anchor="ctr">
                    <a:solidFill>
                      <a:srgbClr val="FFFFFF"/>
                    </a:solidFill>
                  </a:tcPr>
                </a:tc>
                <a:tc>
                  <a:txBody>
                    <a:bodyPr wrap="square"/>
                    <a:lstStyle/>
                    <a:p>
                      <a:pPr algn="ctr">
                        <a:lnSpc>
                          <a:spcPct val="100000"/>
                        </a:lnSpc>
                        <a:spcBef>
                          <a:spcPts val="0"/>
                        </a:spcBef>
                        <a:spcAft>
                          <a:spcPts val="0"/>
                        </a:spcAft>
                        <a:buNone/>
                      </a:pPr>
                      <a:r>
                        <a:rPr sz="1150" b="0" i="0">
                          <a:solidFill>
                            <a:srgbClr val="1E2A35"/>
                          </a:solidFill>
                          <a:latin typeface="Segoe UI"/>
                          <a:cs typeface="Segoe UI"/>
                          <a:ea typeface="Segoe UI"/>
                        </a:rPr>
                        <a:t>1.48</a:t>
                      </a:r>
                    </a:p>
                  </a:txBody>
                  <a:tcPr marL="91440" marR="91440" marT="18288" marB="18288" anchor="ctr">
                    <a:solidFill>
                      <a:srgbClr val="FFFFFF"/>
                    </a:solidFill>
                  </a:tcPr>
                </a:tc>
                <a:tc>
                  <a:txBody>
                    <a:bodyPr wrap="square"/>
                    <a:lstStyle/>
                    <a:p>
                      <a:pPr algn="l">
                        <a:lnSpc>
                          <a:spcPct val="100000"/>
                        </a:lnSpc>
                        <a:spcBef>
                          <a:spcPts val="0"/>
                        </a:spcBef>
                        <a:spcAft>
                          <a:spcPts val="0"/>
                        </a:spcAft>
                        <a:buNone/>
                      </a:pPr>
                      <a:r>
                        <a:rPr sz="1150" b="0" i="0">
                          <a:solidFill>
                            <a:srgbClr val="1E2A35"/>
                          </a:solidFill>
                          <a:latin typeface="Segoe UI"/>
                          <a:cs typeface="Segoe UI"/>
                          <a:ea typeface="Segoe UI"/>
                        </a:rPr>
                        <a:t>broad, never destabilises</a:t>
                      </a:r>
                    </a:p>
                  </a:txBody>
                  <a:tcPr marL="91440" marR="91440" marT="18288" marB="18288" anchor="ctr">
                    <a:solidFill>
                      <a:srgbClr val="FFFFFF"/>
                    </a:solidFill>
                  </a:tcPr>
                </a:tc>
              </a:tr>
              <a:tr h="306324">
                <a:tc>
                  <a:txBody>
                    <a:bodyPr wrap="square"/>
                    <a:lstStyle/>
                    <a:p>
                      <a:pPr algn="l">
                        <a:lnSpc>
                          <a:spcPct val="100000"/>
                        </a:lnSpc>
                        <a:spcBef>
                          <a:spcPts val="0"/>
                        </a:spcBef>
                        <a:spcAft>
                          <a:spcPts val="0"/>
                        </a:spcAft>
                        <a:buNone/>
                      </a:pPr>
                      <a:r>
                        <a:rPr sz="1150" b="1" i="0">
                          <a:solidFill>
                            <a:srgbClr val="1E2A35"/>
                          </a:solidFill>
                          <a:latin typeface="Segoe UI"/>
                          <a:cs typeface="Segoe UI"/>
                          <a:ea typeface="Segoe UI"/>
                        </a:rPr>
                        <a:t>Sophia</a:t>
                      </a:r>
                    </a:p>
                  </a:txBody>
                  <a:tcPr marL="91440" marR="91440" marT="18288" marB="18288" anchor="ctr">
                    <a:solidFill>
                      <a:srgbClr val="EFF6FC"/>
                    </a:solidFill>
                  </a:tcPr>
                </a:tc>
                <a:tc>
                  <a:txBody>
                    <a:bodyPr wrap="square"/>
                    <a:lstStyle/>
                    <a:p>
                      <a:pPr algn="ctr">
                        <a:lnSpc>
                          <a:spcPct val="100000"/>
                        </a:lnSpc>
                        <a:spcBef>
                          <a:spcPts val="0"/>
                        </a:spcBef>
                        <a:spcAft>
                          <a:spcPts val="0"/>
                        </a:spcAft>
                        <a:buNone/>
                      </a:pPr>
                      <a:r>
                        <a:rPr sz="1150" b="0" i="0">
                          <a:solidFill>
                            <a:srgbClr val="1E2A35"/>
                          </a:solidFill>
                          <a:latin typeface="Segoe UI"/>
                          <a:cs typeface="Segoe UI"/>
                          <a:ea typeface="Segoe UI"/>
                        </a:rPr>
                        <a:t>1.81</a:t>
                      </a:r>
                    </a:p>
                  </a:txBody>
                  <a:tcPr marL="91440" marR="91440" marT="18288" marB="18288" anchor="ctr">
                    <a:solidFill>
                      <a:srgbClr val="EFF6FC"/>
                    </a:solidFill>
                  </a:tcPr>
                </a:tc>
                <a:tc>
                  <a:txBody>
                    <a:bodyPr wrap="square"/>
                    <a:lstStyle/>
                    <a:p>
                      <a:pPr algn="l">
                        <a:lnSpc>
                          <a:spcPct val="100000"/>
                        </a:lnSpc>
                        <a:spcBef>
                          <a:spcPts val="0"/>
                        </a:spcBef>
                        <a:spcAft>
                          <a:spcPts val="0"/>
                        </a:spcAft>
                        <a:buNone/>
                      </a:pPr>
                      <a:r>
                        <a:rPr sz="1150" b="0" i="0">
                          <a:solidFill>
                            <a:srgbClr val="1E2A35"/>
                          </a:solidFill>
                          <a:latin typeface="Segoe UI"/>
                          <a:cs typeface="Segoe UI"/>
                          <a:ea typeface="Segoe UI"/>
                        </a:rPr>
                        <a:t>diverges at high LR</a:t>
                      </a:r>
                    </a:p>
                  </a:txBody>
                  <a:tcPr marL="91440" marR="91440" marT="18288" marB="18288" anchor="ctr">
                    <a:solidFill>
                      <a:srgbClr val="EFF6FC"/>
                    </a:solidFill>
                  </a:tcPr>
                </a:tc>
              </a:tr>
              <a:tr h="306324">
                <a:tc>
                  <a:txBody>
                    <a:bodyPr wrap="square"/>
                    <a:lstStyle/>
                    <a:p>
                      <a:pPr algn="l">
                        <a:lnSpc>
                          <a:spcPct val="100000"/>
                        </a:lnSpc>
                        <a:spcBef>
                          <a:spcPts val="0"/>
                        </a:spcBef>
                        <a:spcAft>
                          <a:spcPts val="0"/>
                        </a:spcAft>
                        <a:buNone/>
                      </a:pPr>
                      <a:r>
                        <a:rPr sz="1150" b="1" i="0">
                          <a:solidFill>
                            <a:srgbClr val="0E5688"/>
                          </a:solidFill>
                          <a:latin typeface="Segoe UI"/>
                          <a:cs typeface="Segoe UI"/>
                          <a:ea typeface="Segoe UI"/>
                        </a:rPr>
                        <a:t>Lion</a:t>
                      </a:r>
                    </a:p>
                  </a:txBody>
                  <a:tcPr marL="91440" marR="91440" marT="18288" marB="18288" anchor="ctr">
                    <a:solidFill>
                      <a:srgbClr val="E2EEF9"/>
                    </a:solidFill>
                  </a:tcPr>
                </a:tc>
                <a:tc>
                  <a:txBody>
                    <a:bodyPr wrap="square"/>
                    <a:lstStyle/>
                    <a:p>
                      <a:pPr algn="ctr">
                        <a:lnSpc>
                          <a:spcPct val="100000"/>
                        </a:lnSpc>
                        <a:spcBef>
                          <a:spcPts val="0"/>
                        </a:spcBef>
                        <a:spcAft>
                          <a:spcPts val="0"/>
                        </a:spcAft>
                        <a:buNone/>
                      </a:pPr>
                      <a:r>
                        <a:rPr sz="1150" b="1" i="0">
                          <a:solidFill>
                            <a:srgbClr val="0E5688"/>
                          </a:solidFill>
                          <a:latin typeface="Segoe UI"/>
                          <a:cs typeface="Segoe UI"/>
                          <a:ea typeface="Segoe UI"/>
                        </a:rPr>
                        <a:t>5.58</a:t>
                      </a:r>
                    </a:p>
                  </a:txBody>
                  <a:tcPr marL="91440" marR="91440" marT="18288" marB="18288" anchor="ctr">
                    <a:solidFill>
                      <a:srgbClr val="E2EEF9"/>
                    </a:solidFill>
                  </a:tcPr>
                </a:tc>
                <a:tc>
                  <a:txBody>
                    <a:bodyPr wrap="square"/>
                    <a:lstStyle/>
                    <a:p>
                      <a:pPr algn="l">
                        <a:lnSpc>
                          <a:spcPct val="100000"/>
                        </a:lnSpc>
                        <a:spcBef>
                          <a:spcPts val="0"/>
                        </a:spcBef>
                        <a:spcAft>
                          <a:spcPts val="0"/>
                        </a:spcAft>
                        <a:buNone/>
                      </a:pPr>
                      <a:r>
                        <a:rPr sz="1150" b="1" i="0">
                          <a:solidFill>
                            <a:srgbClr val="0E5688"/>
                          </a:solidFill>
                          <a:latin typeface="Segoe UI"/>
                          <a:cs typeface="Segoe UI"/>
                          <a:ea typeface="Segoe UI"/>
                        </a:rPr>
                        <a:t>narrowest basin</a:t>
                      </a:r>
                    </a:p>
                  </a:txBody>
                  <a:tcPr marL="91440" marR="91440" marT="18288" marB="18288" anchor="ctr">
                    <a:solidFill>
                      <a:srgbClr val="E2EEF9"/>
                    </a:solidFill>
                  </a:tcPr>
                </a:tc>
              </a:tr>
            </a:tbl>
          </a:graphicData>
        </a:graphic>
      </p:graphicFrame>
      <p:sp>
        <p:nvSpPr>
          <p:cNvPr id="15" name="TextBox 14"/>
          <p:cNvSpPr txBox="1"/>
          <p:nvPr/>
        </p:nvSpPr>
        <p:spPr>
          <a:xfrm>
            <a:off x="6446520" y="3529584"/>
            <a:ext cx="5084064" cy="2615184"/>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200" b="1" i="0">
                <a:solidFill>
                  <a:srgbClr val="0E5688"/>
                </a:solidFill>
                <a:latin typeface="Segoe UI"/>
                <a:cs typeface="Segoe UI"/>
                <a:ea typeface="Segoe UI"/>
              </a:rPr>
              <a:t>The proxy is validated: </a:t>
            </a:r>
            <a:r>
              <a:rPr sz="1200" b="0" i="0">
                <a:solidFill>
                  <a:srgbClr val="1E2A35"/>
                </a:solidFill>
                <a:latin typeface="Segoe UI"/>
                <a:cs typeface="Segoe UI"/>
                <a:ea typeface="Segoe UI"/>
              </a:rPr>
              <a:t>power iteration on Hessian–vector products gives 19.046 against an exact 19.052 on a toy MLP, an error of 0.03%.</a:t>
            </a:r>
          </a:p>
          <a:p>
            <a:pPr marL="237744" indent="-237744">
              <a:lnSpc>
                <a:spcPct val="116000"/>
              </a:lnSpc>
              <a:spcBef>
                <a:spcPts val="800"/>
              </a:spcBef>
              <a:spcAft>
                <a:spcPts val="0"/>
              </a:spcAft>
              <a:buClr>
                <a:srgbClr val="68AEDF"/>
              </a:buClr>
              <a:buSzPct val="90000"/>
              <a:buFont typeface="Arial" pitchFamily="34" charset="0"/>
              <a:buChar char="▪"/>
            </a:pPr>
            <a:r>
              <a:rPr sz="1200" b="1" i="0">
                <a:solidFill>
                  <a:srgbClr val="0E5688"/>
                </a:solidFill>
                <a:latin typeface="Segoe UI"/>
                <a:cs typeface="Segoe UI"/>
                <a:ea typeface="Segoe UI"/>
              </a:rPr>
              <a:t>Geometry explains Lion. </a:t>
            </a:r>
            <a:r>
              <a:rPr sz="1200" b="0" i="0">
                <a:solidFill>
                  <a:srgbClr val="1E2A35"/>
                </a:solidFill>
                <a:latin typeface="Segoe UI"/>
                <a:cs typeface="Segoe UI"/>
                <a:ea typeface="Segoe UI"/>
              </a:rPr>
              <a:t>Its minimum is ≈ 4× sharper than the others, which matches its narrow tunability basin.</a:t>
            </a:r>
          </a:p>
          <a:p>
            <a:pPr marL="237744" indent="-237744">
              <a:lnSpc>
                <a:spcPct val="116000"/>
              </a:lnSpc>
              <a:spcBef>
                <a:spcPts val="800"/>
              </a:spcBef>
              <a:spcAft>
                <a:spcPts val="0"/>
              </a:spcAft>
              <a:buClr>
                <a:srgbClr val="68AEDF"/>
              </a:buClr>
              <a:buSzPct val="90000"/>
              <a:buFont typeface="Arial" pitchFamily="34" charset="0"/>
              <a:buChar char="▪"/>
            </a:pPr>
            <a:r>
              <a:rPr sz="1200" b="1" i="0">
                <a:solidFill>
                  <a:srgbClr val="0E5688"/>
                </a:solidFill>
                <a:latin typeface="Segoe UI"/>
                <a:cs typeface="Segoe UI"/>
                <a:ea typeface="Segoe UI"/>
              </a:rPr>
              <a:t>Geometry does not explain Sophia. </a:t>
            </a:r>
            <a:r>
              <a:rPr sz="1200" b="0" i="0">
                <a:solidFill>
                  <a:srgbClr val="1E2A35"/>
                </a:solidFill>
                <a:latin typeface="Segoe UI"/>
                <a:cs typeface="Segoe UI"/>
                <a:ea typeface="Segoe UI"/>
              </a:rPr>
              <a:t>It sits at moderate curvature yet diverges most violently, which points to an update-dynamics failure (empirical-Fisher preconditioning driven into clip saturation) rather than a landscape one.</a:t>
            </a:r>
          </a:p>
          <a:p>
            <a:pPr marL="237744" indent="-237744">
              <a:lnSpc>
                <a:spcPct val="116000"/>
              </a:lnSpc>
              <a:spcBef>
                <a:spcPts val="800"/>
              </a:spcBef>
              <a:spcAft>
                <a:spcPts val="0"/>
              </a:spcAft>
              <a:buClr>
                <a:srgbClr val="68AEDF"/>
              </a:buClr>
              <a:buSzPct val="90000"/>
              <a:buFont typeface="Arial" pitchFamily="34" charset="0"/>
              <a:buChar char="▪"/>
            </a:pPr>
            <a:r>
              <a:rPr sz="1200" b="1" i="0">
                <a:solidFill>
                  <a:srgbClr val="0E5688"/>
                </a:solidFill>
                <a:latin typeface="Segoe UI"/>
                <a:cs typeface="Segoe UI"/>
                <a:ea typeface="Segoe UI"/>
              </a:rPr>
              <a:t>Across regimes: </a:t>
            </a:r>
            <a:r>
              <a:rPr sz="1200" b="0" i="0">
                <a:solidFill>
                  <a:srgbClr val="1E2A35"/>
                </a:solidFill>
                <a:latin typeface="Segoe UI"/>
                <a:cs typeface="Segoe UI"/>
                <a:ea typeface="Segoe UI"/>
              </a:rPr>
              <a:t>under full fine-tuning the winning SGD and Muon reach minima 50–90× flatter than the adaptive methods, pinned near the sharp pretrained basin.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65760"/>
            <a:ext cx="7315200" cy="256032"/>
          </a:xfrm>
          <a:prstGeom prst="rect">
            <a:avLst/>
          </a:prstGeom>
          <a:noFill/>
        </p:spPr>
        <p:txBody>
          <a:bodyPr wrap="square" anchor="t" lIns="0" rIns="0" tIns="0" bIns="0">
            <a:noAutofit/>
          </a:bodyPr>
          <a:lstStyle/>
          <a:p>
            <a:pPr>
              <a:lnSpc>
                <a:spcPct val="100000"/>
              </a:lnSpc>
              <a:spcBef>
                <a:spcPts val="0"/>
              </a:spcBef>
              <a:spcAft>
                <a:spcPts val="0"/>
              </a:spcAft>
            </a:pPr>
            <a:r>
              <a:rPr sz="1050" b="1" i="0">
                <a:solidFill>
                  <a:srgbClr val="2E7CB5"/>
                </a:solidFill>
                <a:latin typeface="Segoe UI"/>
                <a:cs typeface="Segoe UI"/>
                <a:ea typeface="Segoe UI"/>
              </a:rPr>
              <a:t>CONCLUSION</a:t>
            </a:r>
          </a:p>
        </p:txBody>
      </p:sp>
      <p:sp>
        <p:nvSpPr>
          <p:cNvPr id="3" name="TextBox 2"/>
          <p:cNvSpPr txBox="1"/>
          <p:nvPr/>
        </p:nvSpPr>
        <p:spPr>
          <a:xfrm>
            <a:off x="658368" y="640080"/>
            <a:ext cx="9235440" cy="566928"/>
          </a:xfrm>
          <a:prstGeom prst="rect">
            <a:avLst/>
          </a:prstGeom>
          <a:noFill/>
        </p:spPr>
        <p:txBody>
          <a:bodyPr wrap="square" anchor="t" lIns="0" rIns="0" tIns="0" bIns="0">
            <a:noAutofit/>
          </a:bodyPr>
          <a:lstStyle/>
          <a:p>
            <a:pPr>
              <a:lnSpc>
                <a:spcPct val="100000"/>
              </a:lnSpc>
              <a:spcBef>
                <a:spcPts val="0"/>
              </a:spcBef>
              <a:spcAft>
                <a:spcPts val="0"/>
              </a:spcAft>
            </a:pPr>
            <a:r>
              <a:rPr sz="2700" b="1" i="0">
                <a:solidFill>
                  <a:srgbClr val="0E5688"/>
                </a:solidFill>
                <a:latin typeface="Segoe UI"/>
                <a:cs typeface="Segoe UI"/>
                <a:ea typeface="Segoe UI"/>
              </a:rPr>
              <a:t>What changes once the comparison is made fair</a:t>
            </a:r>
          </a:p>
        </p:txBody>
      </p:sp>
      <p:sp>
        <p:nvSpPr>
          <p:cNvPr id="4" name="Rectangle 3"/>
          <p:cNvSpPr/>
          <p:nvPr/>
        </p:nvSpPr>
        <p:spPr>
          <a:xfrm>
            <a:off x="658368" y="1280160"/>
            <a:ext cx="10874959" cy="16459"/>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58368" y="1280160"/>
            <a:ext cx="1417320" cy="4114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logo_nup.png"/>
          <p:cNvPicPr>
            <a:picLocks noChangeAspect="1"/>
          </p:cNvPicPr>
          <p:nvPr/>
        </p:nvPicPr>
        <p:blipFill>
          <a:blip r:embed="rId2"/>
          <a:stretch>
            <a:fillRect/>
          </a:stretch>
        </p:blipFill>
        <p:spPr>
          <a:xfrm>
            <a:off x="10181844" y="420624"/>
            <a:ext cx="1352233" cy="640080"/>
          </a:xfrm>
          <a:prstGeom prst="rect">
            <a:avLst/>
          </a:prstGeom>
        </p:spPr>
      </p:pic>
      <p:sp>
        <p:nvSpPr>
          <p:cNvPr id="7" name="Rectangle 6"/>
          <p:cNvSpPr/>
          <p:nvPr/>
        </p:nvSpPr>
        <p:spPr>
          <a:xfrm>
            <a:off x="658368" y="6272784"/>
            <a:ext cx="10874959" cy="10972"/>
          </a:xfrm>
          <a:prstGeom prst="rect">
            <a:avLst/>
          </a:prstGeom>
          <a:solidFill>
            <a:srgbClr val="D6E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6382512"/>
            <a:ext cx="8229600" cy="237744"/>
          </a:xfrm>
          <a:prstGeom prst="rect">
            <a:avLst/>
          </a:prstGeom>
          <a:noFill/>
        </p:spPr>
        <p:txBody>
          <a:bodyPr wrap="square" anchor="t" lIns="0" rIns="0" tIns="0" bIns="0">
            <a:noAutofit/>
          </a:bodyPr>
          <a:lstStyle/>
          <a:p>
            <a:pPr>
              <a:lnSpc>
                <a:spcPct val="100000"/>
              </a:lnSpc>
              <a:spcBef>
                <a:spcPts val="0"/>
              </a:spcBef>
              <a:spcAft>
                <a:spcPts val="0"/>
              </a:spcAft>
            </a:pPr>
            <a:r>
              <a:rPr sz="950" b="0" i="0">
                <a:solidFill>
                  <a:srgbClr val="5C6B78"/>
                </a:solidFill>
                <a:latin typeface="Segoe UI"/>
                <a:cs typeface="Segoe UI"/>
                <a:ea typeface="Segoe UI"/>
              </a:rPr>
              <a:t>Maksim Seliuk  ·  Neapolis University Pafos  ·  BSc Applied Computer Science</a:t>
            </a:r>
          </a:p>
        </p:txBody>
      </p:sp>
      <p:sp>
        <p:nvSpPr>
          <p:cNvPr id="9" name="TextBox 8"/>
          <p:cNvSpPr txBox="1"/>
          <p:nvPr/>
        </p:nvSpPr>
        <p:spPr>
          <a:xfrm>
            <a:off x="9704527" y="6382512"/>
            <a:ext cx="1828800" cy="237744"/>
          </a:xfrm>
          <a:prstGeom prst="rect">
            <a:avLst/>
          </a:prstGeom>
          <a:noFill/>
        </p:spPr>
        <p:txBody>
          <a:bodyPr wrap="square" anchor="t" lIns="0" rIns="0" tIns="0" bIns="0">
            <a:noAutofit/>
          </a:bodyPr>
          <a:lstStyle/>
          <a:p>
            <a:pPr algn="r">
              <a:lnSpc>
                <a:spcPct val="100000"/>
              </a:lnSpc>
              <a:spcBef>
                <a:spcPts val="0"/>
              </a:spcBef>
              <a:spcAft>
                <a:spcPts val="0"/>
              </a:spcAft>
            </a:pPr>
            <a:r>
              <a:rPr sz="950" b="0" i="0">
                <a:solidFill>
                  <a:srgbClr val="5C6B78"/>
                </a:solidFill>
                <a:latin typeface="Segoe UI"/>
                <a:cs typeface="Segoe UI"/>
                <a:ea typeface="Segoe UI"/>
              </a:rPr>
              <a:t>9 / 10</a:t>
            </a:r>
          </a:p>
        </p:txBody>
      </p:sp>
      <p:sp>
        <p:nvSpPr>
          <p:cNvPr id="10" name="TextBox 9"/>
          <p:cNvSpPr txBox="1"/>
          <p:nvPr/>
        </p:nvSpPr>
        <p:spPr>
          <a:xfrm>
            <a:off x="658368" y="1481328"/>
            <a:ext cx="6537960" cy="2651760"/>
          </a:xfrm>
          <a:prstGeom prst="rect">
            <a:avLst/>
          </a:prstGeom>
          <a:noFill/>
        </p:spPr>
        <p:txBody>
          <a:bodyPr wrap="square" anchor="t" lIns="0" rIns="0" tIns="0" bIns="0">
            <a:noAutofit/>
          </a:bodyPr>
          <a:lstStyle/>
          <a:p>
            <a:pPr marL="237744" indent="-237744">
              <a:lnSpc>
                <a:spcPct val="116000"/>
              </a:lnSpc>
              <a:spcBef>
                <a:spcPts val="0"/>
              </a:spcBef>
              <a:spcAft>
                <a:spcPts val="0"/>
              </a:spcAft>
              <a:buClr>
                <a:srgbClr val="68AEDF"/>
              </a:buClr>
              <a:buSzPct val="90000"/>
              <a:buFont typeface="Arial" pitchFamily="34" charset="0"/>
              <a:buChar char="▪"/>
            </a:pPr>
            <a:r>
              <a:rPr sz="1350" b="1" i="0">
                <a:solidFill>
                  <a:srgbClr val="0E5688"/>
                </a:solidFill>
                <a:latin typeface="Segoe UI"/>
                <a:cs typeface="Segoe UI"/>
                <a:ea typeface="Segoe UI"/>
              </a:rPr>
              <a:t>RQ1. </a:t>
            </a:r>
            <a:r>
              <a:rPr sz="1350" b="0" i="0">
                <a:solidFill>
                  <a:srgbClr val="1E2A35"/>
                </a:solidFill>
                <a:latin typeface="Segoe UI"/>
                <a:cs typeface="Segoe UI"/>
                <a:ea typeface="Segoe UI"/>
              </a:rPr>
              <a:t>Under an equal, pre-declared budget the optimizers converge to within 0.012 validation loss on GPT-2 + LoRA, but full fine-tuning widens the spread sixfold and inverts the ranking.</a:t>
            </a:r>
          </a:p>
          <a:p>
            <a:pPr marL="237744" indent="-237744">
              <a:lnSpc>
                <a:spcPct val="116000"/>
              </a:lnSpc>
              <a:spcBef>
                <a:spcPts val="1000"/>
              </a:spcBef>
              <a:spcAft>
                <a:spcPts val="0"/>
              </a:spcAft>
              <a:buClr>
                <a:srgbClr val="68AEDF"/>
              </a:buClr>
              <a:buSzPct val="90000"/>
              <a:buFont typeface="Arial" pitchFamily="34" charset="0"/>
              <a:buChar char="▪"/>
            </a:pPr>
            <a:r>
              <a:rPr sz="1350" b="1" i="0">
                <a:solidFill>
                  <a:srgbClr val="0E5688"/>
                </a:solidFill>
                <a:latin typeface="Segoe UI"/>
                <a:cs typeface="Segoe UI"/>
                <a:ea typeface="Segoe UI"/>
              </a:rPr>
              <a:t>RQ2. </a:t>
            </a:r>
            <a:r>
              <a:rPr sz="1350" b="0" i="0">
                <a:solidFill>
                  <a:srgbClr val="1E2A35"/>
                </a:solidFill>
                <a:latin typeface="Segoe UI"/>
                <a:cs typeface="Segoe UI"/>
                <a:ea typeface="Segoe UI"/>
              </a:rPr>
              <a:t>They differ far more in how they must be tuned than in best-case quality; whether a second hyperparameter matters is itself optimizer-specific.</a:t>
            </a:r>
          </a:p>
          <a:p>
            <a:pPr marL="237744" indent="-237744">
              <a:lnSpc>
                <a:spcPct val="116000"/>
              </a:lnSpc>
              <a:spcBef>
                <a:spcPts val="1000"/>
              </a:spcBef>
              <a:spcAft>
                <a:spcPts val="0"/>
              </a:spcAft>
              <a:buClr>
                <a:srgbClr val="68AEDF"/>
              </a:buClr>
              <a:buSzPct val="90000"/>
              <a:buFont typeface="Arial" pitchFamily="34" charset="0"/>
              <a:buChar char="▪"/>
            </a:pPr>
            <a:r>
              <a:rPr sz="1350" b="1" i="0">
                <a:solidFill>
                  <a:srgbClr val="0E5688"/>
                </a:solidFill>
                <a:latin typeface="Segoe UI"/>
                <a:cs typeface="Segoe UI"/>
                <a:ea typeface="Segoe UI"/>
              </a:rPr>
              <a:t>RQ3. </a:t>
            </a:r>
            <a:r>
              <a:rPr sz="1350" b="0" i="0">
                <a:solidFill>
                  <a:srgbClr val="1E2A35"/>
                </a:solidFill>
                <a:latin typeface="Segoe UI"/>
                <a:cs typeface="Segoe UI"/>
                <a:ea typeface="Segoe UI"/>
              </a:rPr>
              <a:t>Filter normalization is necessary rather than optional, and a validated curvature probe separates a landscape fragility (Lion) from a dynamics fragility (Sophia).</a:t>
            </a:r>
          </a:p>
        </p:txBody>
      </p:sp>
      <p:sp>
        <p:nvSpPr>
          <p:cNvPr id="11" name="Rectangle 10"/>
          <p:cNvSpPr/>
          <p:nvPr/>
        </p:nvSpPr>
        <p:spPr>
          <a:xfrm>
            <a:off x="7498079" y="1481328"/>
            <a:ext cx="4032504" cy="1572768"/>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7498079" y="1481328"/>
            <a:ext cx="4032504"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735823" y="1700784"/>
            <a:ext cx="3557016" cy="1188720"/>
          </a:xfrm>
          <a:prstGeom prst="rect">
            <a:avLst/>
          </a:prstGeom>
          <a:noFill/>
        </p:spPr>
        <p:txBody>
          <a:bodyPr wrap="square" anchor="t" lIns="0" rIns="0" tIns="0" bIns="0">
            <a:noAutofit/>
          </a:bodyPr>
          <a:lstStyle/>
          <a:p>
            <a:pPr>
              <a:lnSpc>
                <a:spcPct val="105000"/>
              </a:lnSpc>
              <a:spcBef>
                <a:spcPts val="0"/>
              </a:spcBef>
              <a:spcAft>
                <a:spcPts val="500"/>
              </a:spcAft>
              <a:buNone/>
            </a:pPr>
            <a:r>
              <a:rPr sz="1300" b="1" i="0">
                <a:solidFill>
                  <a:srgbClr val="0E5688"/>
                </a:solidFill>
                <a:latin typeface="Segoe UI"/>
                <a:cs typeface="Segoe UI"/>
                <a:ea typeface="Segoe UI"/>
              </a:rPr>
              <a:t>Practical takeaway</a:t>
            </a:r>
          </a:p>
          <a:p>
            <a:pPr>
              <a:lnSpc>
                <a:spcPct val="114000"/>
              </a:lnSpc>
              <a:spcBef>
                <a:spcPts val="400"/>
              </a:spcBef>
              <a:spcAft>
                <a:spcPts val="0"/>
              </a:spcAft>
              <a:buNone/>
            </a:pPr>
            <a:r>
              <a:rPr sz="1150" b="0" i="0">
                <a:solidFill>
                  <a:srgbClr val="1E2A35"/>
                </a:solidFill>
                <a:latin typeface="Segoe UI"/>
                <a:cs typeface="Segoe UI"/>
                <a:ea typeface="Segoe UI"/>
              </a:rPr>
              <a:t>For LoRA, AdamW remains a sound default, mainly because it is the easiest to tune rather than because it is decisively better. Lion when memory or step time binds; well-tuned SGD under full fine-tuning.</a:t>
            </a:r>
          </a:p>
        </p:txBody>
      </p:sp>
      <p:sp>
        <p:nvSpPr>
          <p:cNvPr id="14" name="Rectangle 13"/>
          <p:cNvSpPr/>
          <p:nvPr/>
        </p:nvSpPr>
        <p:spPr>
          <a:xfrm>
            <a:off x="7498079" y="3218688"/>
            <a:ext cx="4032504" cy="1298448"/>
          </a:xfrm>
          <a:prstGeom prst="rect">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498079" y="3218688"/>
            <a:ext cx="4032504" cy="45720"/>
          </a:xfrm>
          <a:prstGeom prst="rect">
            <a:avLst/>
          </a:prstGeom>
          <a:solidFill>
            <a:srgbClr val="5C6B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735823" y="3438144"/>
            <a:ext cx="3557016" cy="914400"/>
          </a:xfrm>
          <a:prstGeom prst="rect">
            <a:avLst/>
          </a:prstGeom>
          <a:noFill/>
        </p:spPr>
        <p:txBody>
          <a:bodyPr wrap="square" anchor="t" lIns="0" rIns="0" tIns="0" bIns="0">
            <a:noAutofit/>
          </a:bodyPr>
          <a:lstStyle/>
          <a:p>
            <a:pPr>
              <a:lnSpc>
                <a:spcPct val="105000"/>
              </a:lnSpc>
              <a:spcBef>
                <a:spcPts val="0"/>
              </a:spcBef>
              <a:spcAft>
                <a:spcPts val="500"/>
              </a:spcAft>
              <a:buNone/>
            </a:pPr>
            <a:r>
              <a:rPr sz="1300" b="1" i="0">
                <a:solidFill>
                  <a:srgbClr val="0E5688"/>
                </a:solidFill>
                <a:latin typeface="Segoe UI"/>
                <a:cs typeface="Segoe UI"/>
                <a:ea typeface="Segoe UI"/>
              </a:rPr>
              <a:t>Limitations</a:t>
            </a:r>
          </a:p>
          <a:p>
            <a:pPr>
              <a:lnSpc>
                <a:spcPct val="114000"/>
              </a:lnSpc>
              <a:spcBef>
                <a:spcPts val="400"/>
              </a:spcBef>
              <a:spcAft>
                <a:spcPts val="0"/>
              </a:spcAft>
              <a:buNone/>
            </a:pPr>
            <a:r>
              <a:rPr sz="1150" b="0" i="0">
                <a:solidFill>
                  <a:srgbClr val="1E2A35"/>
                </a:solidFill>
                <a:latin typeface="Segoe UI"/>
                <a:cs typeface="Segoe UI"/>
                <a:ea typeface="Segoe UI"/>
              </a:rPr>
              <a:t>Two language-modelling models, a mostly single-axis search, small seed counts (5 and 3), a fixed 500–800 step budget, and a simplified Sophia variant.</a:t>
            </a:r>
          </a:p>
        </p:txBody>
      </p:sp>
      <p:sp>
        <p:nvSpPr>
          <p:cNvPr id="17" name="Rectangle 16"/>
          <p:cNvSpPr/>
          <p:nvPr/>
        </p:nvSpPr>
        <p:spPr>
          <a:xfrm>
            <a:off x="658368" y="4718304"/>
            <a:ext cx="10874959" cy="969264"/>
          </a:xfrm>
          <a:prstGeom prst="rect">
            <a:avLst/>
          </a:prstGeom>
          <a:solidFill>
            <a:srgbClr val="EF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4718304"/>
            <a:ext cx="68580" cy="969264"/>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69264" y="4727448"/>
            <a:ext cx="10308031" cy="950976"/>
          </a:xfrm>
          <a:prstGeom prst="rect">
            <a:avLst/>
          </a:prstGeom>
          <a:noFill/>
        </p:spPr>
        <p:txBody>
          <a:bodyPr wrap="square" anchor="ctr" lIns="0" rIns="0" tIns="0" bIns="0">
            <a:noAutofit/>
          </a:bodyPr>
          <a:lstStyle/>
          <a:p>
            <a:pPr>
              <a:lnSpc>
                <a:spcPct val="115000"/>
              </a:lnSpc>
              <a:spcBef>
                <a:spcPts val="0"/>
              </a:spcBef>
              <a:spcAft>
                <a:spcPts val="0"/>
              </a:spcAft>
              <a:buNone/>
            </a:pPr>
            <a:r>
              <a:rPr sz="1100" b="1" i="0">
                <a:solidFill>
                  <a:srgbClr val="2E7CB5"/>
                </a:solidFill>
                <a:latin typeface="Segoe UI"/>
                <a:cs typeface="Segoe UI"/>
                <a:ea typeface="Segoe UI"/>
              </a:rPr>
              <a:t>Contribution</a:t>
            </a:r>
          </a:p>
          <a:p>
            <a:pPr>
              <a:lnSpc>
                <a:spcPct val="115000"/>
              </a:lnSpc>
              <a:spcBef>
                <a:spcPts val="600"/>
              </a:spcBef>
              <a:spcAft>
                <a:spcPts val="0"/>
              </a:spcAft>
              <a:buNone/>
            </a:pPr>
            <a:r>
              <a:rPr sz="1350" b="1" i="0">
                <a:solidFill>
                  <a:srgbClr val="0E5688"/>
                </a:solidFill>
                <a:latin typeface="Segoe UI"/>
                <a:cs typeface="Segoe UI"/>
                <a:ea typeface="Segoe UI"/>
              </a:rPr>
              <a:t>A reproducible, config-driven harness that encodes the fairness invariant, an equal-budget tuning and multi-seed evaluation procedure, and an honestly scoped visualization component.</a:t>
            </a:r>
          </a:p>
        </p:txBody>
      </p:sp>
      <p:sp>
        <p:nvSpPr>
          <p:cNvPr id="20" name="TextBox 19"/>
          <p:cNvSpPr txBox="1"/>
          <p:nvPr/>
        </p:nvSpPr>
        <p:spPr>
          <a:xfrm>
            <a:off x="658368" y="5852160"/>
            <a:ext cx="10874959" cy="365760"/>
          </a:xfrm>
          <a:prstGeom prst="rect">
            <a:avLst/>
          </a:prstGeom>
          <a:noFill/>
        </p:spPr>
        <p:txBody>
          <a:bodyPr wrap="square" anchor="t" lIns="0" rIns="0" tIns="0" bIns="0">
            <a:noAutofit/>
          </a:bodyPr>
          <a:lstStyle/>
          <a:p>
            <a:pPr>
              <a:lnSpc>
                <a:spcPct val="115000"/>
              </a:lnSpc>
              <a:spcBef>
                <a:spcPts val="0"/>
              </a:spcBef>
              <a:spcAft>
                <a:spcPts val="0"/>
              </a:spcAft>
              <a:buNone/>
            </a:pPr>
            <a:r>
              <a:rPr sz="1300" b="0" i="1">
                <a:solidFill>
                  <a:srgbClr val="1E2A35"/>
                </a:solidFill>
                <a:latin typeface="Segoe UI"/>
                <a:cs typeface="Segoe UI"/>
                <a:ea typeface="Segoe UI"/>
              </a:rPr>
              <a:t>Equalising the tuning budget shrinks optimizer differences on accuracy and relocates them to robustness, tunability and cost.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 name="Picture 2" descr="logo_nup.png"/>
          <p:cNvPicPr>
            <a:picLocks noChangeAspect="1"/>
          </p:cNvPicPr>
          <p:nvPr/>
        </p:nvPicPr>
        <p:blipFill>
          <a:blip r:embed="rId2"/>
          <a:stretch>
            <a:fillRect/>
          </a:stretch>
        </p:blipFill>
        <p:spPr>
          <a:xfrm>
            <a:off x="658368" y="1298448"/>
            <a:ext cx="1661314" cy="786384"/>
          </a:xfrm>
          <a:prstGeom prst="rect">
            <a:avLst/>
          </a:prstGeom>
        </p:spPr>
      </p:pic>
      <p:sp>
        <p:nvSpPr>
          <p:cNvPr id="4" name="TextBox 3"/>
          <p:cNvSpPr txBox="1"/>
          <p:nvPr/>
        </p:nvSpPr>
        <p:spPr>
          <a:xfrm>
            <a:off x="658368" y="2651760"/>
            <a:ext cx="7863840" cy="868680"/>
          </a:xfrm>
          <a:prstGeom prst="rect">
            <a:avLst/>
          </a:prstGeom>
          <a:noFill/>
        </p:spPr>
        <p:txBody>
          <a:bodyPr wrap="square" anchor="t" lIns="0" rIns="0" tIns="0" bIns="0">
            <a:noAutofit/>
          </a:bodyPr>
          <a:lstStyle/>
          <a:p>
            <a:pPr>
              <a:lnSpc>
                <a:spcPct val="100000"/>
              </a:lnSpc>
              <a:spcBef>
                <a:spcPts val="0"/>
              </a:spcBef>
              <a:spcAft>
                <a:spcPts val="0"/>
              </a:spcAft>
              <a:buNone/>
            </a:pPr>
            <a:r>
              <a:rPr sz="4400" b="1" i="0">
                <a:solidFill>
                  <a:srgbClr val="0E5688"/>
                </a:solidFill>
                <a:latin typeface="Segoe UI"/>
                <a:cs typeface="Segoe UI"/>
                <a:ea typeface="Segoe UI"/>
              </a:rPr>
              <a:t>Thank you — questions?</a:t>
            </a:r>
          </a:p>
        </p:txBody>
      </p:sp>
      <p:sp>
        <p:nvSpPr>
          <p:cNvPr id="5" name="Rectangle 4"/>
          <p:cNvSpPr/>
          <p:nvPr/>
        </p:nvSpPr>
        <p:spPr>
          <a:xfrm>
            <a:off x="658368" y="3749039"/>
            <a:ext cx="2377440" cy="457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4078224"/>
            <a:ext cx="7863840" cy="1554480"/>
          </a:xfrm>
          <a:prstGeom prst="rect">
            <a:avLst/>
          </a:prstGeom>
          <a:noFill/>
        </p:spPr>
        <p:txBody>
          <a:bodyPr wrap="square" anchor="t" lIns="0" rIns="0" tIns="0" bIns="0">
            <a:noAutofit/>
          </a:bodyPr>
          <a:lstStyle/>
          <a:p>
            <a:pPr>
              <a:lnSpc>
                <a:spcPct val="112000"/>
              </a:lnSpc>
              <a:spcBef>
                <a:spcPts val="0"/>
              </a:spcBef>
              <a:spcAft>
                <a:spcPts val="0"/>
              </a:spcAft>
              <a:buNone/>
            </a:pPr>
            <a:r>
              <a:rPr sz="1500" b="1" i="0">
                <a:solidFill>
                  <a:srgbClr val="0E5688"/>
                </a:solidFill>
                <a:latin typeface="Segoe UI"/>
                <a:cs typeface="Segoe UI"/>
                <a:ea typeface="Segoe UI"/>
              </a:rPr>
              <a:t>Maksim Seliuk  ·  Student ID 1220715469</a:t>
            </a:r>
          </a:p>
          <a:p>
            <a:pPr>
              <a:lnSpc>
                <a:spcPct val="112000"/>
              </a:lnSpc>
              <a:spcBef>
                <a:spcPts val="800"/>
              </a:spcBef>
              <a:spcAft>
                <a:spcPts val="0"/>
              </a:spcAft>
              <a:buNone/>
            </a:pPr>
            <a:r>
              <a:rPr sz="1300" b="0" i="0">
                <a:solidFill>
                  <a:srgbClr val="1E2A35"/>
                </a:solidFill>
                <a:latin typeface="Segoe UI"/>
                <a:cs typeface="Segoe UI"/>
                <a:ea typeface="Segoe UI"/>
              </a:rPr>
              <a:t>Supervisor: Dr. Dimitris Karampatzakis</a:t>
            </a:r>
          </a:p>
          <a:p>
            <a:pPr>
              <a:lnSpc>
                <a:spcPct val="112000"/>
              </a:lnSpc>
              <a:spcBef>
                <a:spcPts val="1200"/>
              </a:spcBef>
              <a:spcAft>
                <a:spcPts val="0"/>
              </a:spcAft>
              <a:buNone/>
            </a:pPr>
            <a:r>
              <a:rPr sz="1200" b="0" i="0">
                <a:solidFill>
                  <a:srgbClr val="5C6B78"/>
                </a:solidFill>
                <a:latin typeface="Segoe UI"/>
                <a:cs typeface="Segoe UI"/>
                <a:ea typeface="Segoe UI"/>
              </a:rPr>
              <a:t>Fair, Reproducible Benchmarking and Visualization of Optimizers when Fine-Tuning Language Models</a:t>
            </a:r>
          </a:p>
          <a:p>
            <a:pPr>
              <a:lnSpc>
                <a:spcPct val="112000"/>
              </a:lnSpc>
              <a:spcBef>
                <a:spcPts val="600"/>
              </a:spcBef>
              <a:spcAft>
                <a:spcPts val="0"/>
              </a:spcAft>
              <a:buNone/>
            </a:pPr>
            <a:r>
              <a:rPr sz="1150" b="0" i="0">
                <a:solidFill>
                  <a:srgbClr val="5C6B78"/>
                </a:solidFill>
                <a:latin typeface="Segoe UI"/>
                <a:cs typeface="Segoe UI"/>
                <a:ea typeface="Segoe UI"/>
              </a:rPr>
              <a:t>Neapolis University Pafos  ·  School of Economics, Business and Computer Science  ·  2025–2026</a:t>
            </a:r>
          </a:p>
        </p:txBody>
      </p:sp>
      <p:sp>
        <p:nvSpPr>
          <p:cNvPr id="7" name="Rectangle 6"/>
          <p:cNvSpPr/>
          <p:nvPr/>
        </p:nvSpPr>
        <p:spPr>
          <a:xfrm>
            <a:off x="9802368" y="2706624"/>
            <a:ext cx="274320" cy="274320"/>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0369296" y="3127248"/>
            <a:ext cx="475488" cy="475488"/>
          </a:xfrm>
          <a:prstGeom prst="rect">
            <a:avLst/>
          </a:prstGeom>
          <a:solidFill>
            <a:srgbClr val="8FC4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9564624" y="3547872"/>
            <a:ext cx="201168" cy="201168"/>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10149840" y="3858768"/>
            <a:ext cx="310896" cy="310896"/>
          </a:xfrm>
          <a:prstGeom prst="rect">
            <a:avLst/>
          </a:prstGeom>
          <a:solidFill>
            <a:srgbClr val="B6D9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058400" y="4407408"/>
            <a:ext cx="566928" cy="566928"/>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0917936" y="4224528"/>
            <a:ext cx="219456" cy="219456"/>
          </a:xfrm>
          <a:prstGeom prst="rect">
            <a:avLst/>
          </a:prstGeom>
          <a:solidFill>
            <a:srgbClr val="68A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0" y="6601968"/>
            <a:ext cx="12191695" cy="256032"/>
          </a:xfrm>
          <a:prstGeom prst="rect">
            <a:avLst/>
          </a:prstGeom>
          <a:solidFill>
            <a:srgbClr val="0E56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612</TotalTime>
  <Words>2080</Words>
  <Application>Microsoft Office PowerPoint</Application>
  <PresentationFormat>Widescreen</PresentationFormat>
  <Paragraphs>273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 Reproducible Benchmarking and Visualization of Optimizers when Fine-Tuning Language Models</dc:title>
  <dc:subject>Bachelor Thesis II defence, CSAITHE02</dc:subject>
  <dc:creator>Maksim Seliuk</dc:creator>
  <cp:keywords>optimizers; benchmarking; LoRA; fine-tuning; loss landscape</cp:keywords>
  <dc:description/>
  <cp:lastModifiedBy>Maksim Seliuk</cp:lastModifiedBy>
  <cp:revision>34</cp:revision>
  <dcterms:created xsi:type="dcterms:W3CDTF">2026-08-09T11:26:00Z</dcterms:created>
  <dcterms:modified xsi:type="dcterms:W3CDTF">2026-08-27T13:41:00Z</dcterms:modified>
  <cp:category/>
</cp:coreProperties>
</file>